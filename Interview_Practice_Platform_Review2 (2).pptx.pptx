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alibri (MS)" charset="1" panose="020F0502020204030204"/>
      <p:regular r:id="rId26"/>
    </p:embeddedFont>
    <p:embeddedFont>
      <p:font typeface="Century Gothic Paneuropean Bold" charset="1" panose="020B0702020202020204"/>
      <p:regular r:id="rId27"/>
    </p:embeddedFont>
    <p:embeddedFont>
      <p:font typeface="Calibri (MS) Bold" charset="1" panose="020F0702030404030204"/>
      <p:regular r:id="rId28"/>
    </p:embeddedFont>
    <p:embeddedFont>
      <p:font typeface="Calibri (MS) Italics" charset="1" panose="020F05020202040A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png" Type="http://schemas.openxmlformats.org/officeDocument/2006/relationships/image"/><Relationship Id="rId4" Target="../media/image3.jpe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.png" Type="http://schemas.openxmlformats.org/officeDocument/2006/relationships/image"/><Relationship Id="rId4" Target="../media/image3.jpe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6.png" Type="http://schemas.openxmlformats.org/officeDocument/2006/relationships/image"/><Relationship Id="rId4" Target="../media/image3.jpe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6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6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6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6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6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6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2.pn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111" r="0" b="-9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4" id="4" descr="bg.png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t="0" r="-1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53034" y="330994"/>
            <a:ext cx="983932" cy="983932"/>
            <a:chOff x="0" y="0"/>
            <a:chExt cx="1311910" cy="13119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1910" cy="1311910"/>
            </a:xfrm>
            <a:custGeom>
              <a:avLst/>
              <a:gdLst/>
              <a:ahLst/>
              <a:cxnLst/>
              <a:rect r="r" b="b" t="t" l="l"/>
              <a:pathLst>
                <a:path h="1311910" w="1311910">
                  <a:moveTo>
                    <a:pt x="0" y="655955"/>
                  </a:moveTo>
                  <a:cubicBezTo>
                    <a:pt x="0" y="293624"/>
                    <a:pt x="293624" y="0"/>
                    <a:pt x="655955" y="0"/>
                  </a:cubicBezTo>
                  <a:cubicBezTo>
                    <a:pt x="1018286" y="0"/>
                    <a:pt x="1311910" y="293624"/>
                    <a:pt x="1311910" y="655955"/>
                  </a:cubicBezTo>
                  <a:cubicBezTo>
                    <a:pt x="1311910" y="1018286"/>
                    <a:pt x="1018286" y="1311910"/>
                    <a:pt x="655955" y="1311910"/>
                  </a:cubicBezTo>
                  <a:cubicBezTo>
                    <a:pt x="293624" y="1311910"/>
                    <a:pt x="0" y="1018286"/>
                    <a:pt x="0" y="655955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6323850" y="1810"/>
            <a:ext cx="1642300" cy="1642300"/>
            <a:chOff x="0" y="0"/>
            <a:chExt cx="2189734" cy="21897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9734" cy="2189734"/>
            </a:xfrm>
            <a:custGeom>
              <a:avLst/>
              <a:gdLst/>
              <a:ahLst/>
              <a:cxnLst/>
              <a:rect r="r" b="b" t="t" l="l"/>
              <a:pathLst>
                <a:path h="2189734" w="2189734">
                  <a:moveTo>
                    <a:pt x="0" y="1094867"/>
                  </a:moveTo>
                  <a:cubicBezTo>
                    <a:pt x="0" y="490220"/>
                    <a:pt x="490220" y="0"/>
                    <a:pt x="1094867" y="0"/>
                  </a:cubicBezTo>
                  <a:cubicBezTo>
                    <a:pt x="1699514" y="0"/>
                    <a:pt x="2189734" y="490220"/>
                    <a:pt x="2189734" y="1094867"/>
                  </a:cubicBezTo>
                  <a:cubicBezTo>
                    <a:pt x="2189734" y="1699514"/>
                    <a:pt x="1699514" y="2189734"/>
                    <a:pt x="1094867" y="2189734"/>
                  </a:cubicBezTo>
                  <a:cubicBezTo>
                    <a:pt x="490220" y="2189734"/>
                    <a:pt x="0" y="1699514"/>
                    <a:pt x="0" y="1094867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994666" y="-327374"/>
            <a:ext cx="2300668" cy="2300668"/>
            <a:chOff x="0" y="0"/>
            <a:chExt cx="3067558" cy="30675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67558" cy="3067558"/>
            </a:xfrm>
            <a:custGeom>
              <a:avLst/>
              <a:gdLst/>
              <a:ahLst/>
              <a:cxnLst/>
              <a:rect r="r" b="b" t="t" l="l"/>
              <a:pathLst>
                <a:path h="3067558" w="3067558">
                  <a:moveTo>
                    <a:pt x="0" y="1533779"/>
                  </a:moveTo>
                  <a:cubicBezTo>
                    <a:pt x="0" y="686689"/>
                    <a:pt x="686689" y="0"/>
                    <a:pt x="1533779" y="0"/>
                  </a:cubicBezTo>
                  <a:cubicBezTo>
                    <a:pt x="2380869" y="0"/>
                    <a:pt x="3067558" y="686689"/>
                    <a:pt x="3067558" y="1533779"/>
                  </a:cubicBezTo>
                  <a:cubicBezTo>
                    <a:pt x="3067558" y="2380869"/>
                    <a:pt x="2380869" y="3067558"/>
                    <a:pt x="1533779" y="3067558"/>
                  </a:cubicBezTo>
                  <a:cubicBezTo>
                    <a:pt x="686689" y="3067558"/>
                    <a:pt x="0" y="2380869"/>
                    <a:pt x="0" y="1533779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5665482" y="-656558"/>
            <a:ext cx="2959036" cy="2959036"/>
            <a:chOff x="0" y="0"/>
            <a:chExt cx="3945382" cy="39453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45382" cy="3945382"/>
            </a:xfrm>
            <a:custGeom>
              <a:avLst/>
              <a:gdLst/>
              <a:ahLst/>
              <a:cxnLst/>
              <a:rect r="r" b="b" t="t" l="l"/>
              <a:pathLst>
                <a:path h="3945382" w="3945382">
                  <a:moveTo>
                    <a:pt x="0" y="1972691"/>
                  </a:moveTo>
                  <a:cubicBezTo>
                    <a:pt x="0" y="883158"/>
                    <a:pt x="883158" y="0"/>
                    <a:pt x="1972691" y="0"/>
                  </a:cubicBezTo>
                  <a:cubicBezTo>
                    <a:pt x="3062224" y="0"/>
                    <a:pt x="3945382" y="883158"/>
                    <a:pt x="3945382" y="1972691"/>
                  </a:cubicBezTo>
                  <a:cubicBezTo>
                    <a:pt x="3945382" y="3062224"/>
                    <a:pt x="3062224" y="3945382"/>
                    <a:pt x="1972691" y="3945382"/>
                  </a:cubicBezTo>
                  <a:cubicBezTo>
                    <a:pt x="883158" y="3945382"/>
                    <a:pt x="0" y="3062224"/>
                    <a:pt x="0" y="1972691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336298" y="-985742"/>
            <a:ext cx="3617404" cy="3617404"/>
            <a:chOff x="0" y="0"/>
            <a:chExt cx="4823206" cy="48232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23206" cy="4823206"/>
            </a:xfrm>
            <a:custGeom>
              <a:avLst/>
              <a:gdLst/>
              <a:ahLst/>
              <a:cxnLst/>
              <a:rect r="r" b="b" t="t" l="l"/>
              <a:pathLst>
                <a:path h="4823206" w="4823206">
                  <a:moveTo>
                    <a:pt x="0" y="2411603"/>
                  </a:moveTo>
                  <a:cubicBezTo>
                    <a:pt x="0" y="1079754"/>
                    <a:pt x="1079754" y="0"/>
                    <a:pt x="2411603" y="0"/>
                  </a:cubicBezTo>
                  <a:cubicBezTo>
                    <a:pt x="3743452" y="0"/>
                    <a:pt x="4823206" y="1079754"/>
                    <a:pt x="4823206" y="2411603"/>
                  </a:cubicBezTo>
                  <a:cubicBezTo>
                    <a:pt x="4823206" y="3743452"/>
                    <a:pt x="3743452" y="4823206"/>
                    <a:pt x="2411603" y="4823206"/>
                  </a:cubicBezTo>
                  <a:cubicBezTo>
                    <a:pt x="1079754" y="4823206"/>
                    <a:pt x="0" y="3743452"/>
                    <a:pt x="0" y="2411603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-354806" y="9795034"/>
            <a:ext cx="846773" cy="846773"/>
            <a:chOff x="0" y="0"/>
            <a:chExt cx="1129030" cy="11290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9030" cy="1129030"/>
            </a:xfrm>
            <a:custGeom>
              <a:avLst/>
              <a:gdLst/>
              <a:ahLst/>
              <a:cxnLst/>
              <a:rect r="r" b="b" t="t" l="l"/>
              <a:pathLst>
                <a:path h="1129030" w="1129030">
                  <a:moveTo>
                    <a:pt x="0" y="564515"/>
                  </a:moveTo>
                  <a:cubicBezTo>
                    <a:pt x="0" y="252730"/>
                    <a:pt x="252730" y="0"/>
                    <a:pt x="564515" y="0"/>
                  </a:cubicBezTo>
                  <a:cubicBezTo>
                    <a:pt x="876300" y="0"/>
                    <a:pt x="1129030" y="252730"/>
                    <a:pt x="1129030" y="564515"/>
                  </a:cubicBezTo>
                  <a:cubicBezTo>
                    <a:pt x="1129030" y="876300"/>
                    <a:pt x="876300" y="1129030"/>
                    <a:pt x="564515" y="1129030"/>
                  </a:cubicBezTo>
                  <a:cubicBezTo>
                    <a:pt x="252730" y="1129030"/>
                    <a:pt x="0" y="876300"/>
                    <a:pt x="0" y="564515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-656558" y="9493282"/>
            <a:ext cx="1450276" cy="1450276"/>
            <a:chOff x="0" y="0"/>
            <a:chExt cx="1933702" cy="19337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3702" cy="1933702"/>
            </a:xfrm>
            <a:custGeom>
              <a:avLst/>
              <a:gdLst/>
              <a:ahLst/>
              <a:cxnLst/>
              <a:rect r="r" b="b" t="t" l="l"/>
              <a:pathLst>
                <a:path h="1933702" w="1933702">
                  <a:moveTo>
                    <a:pt x="0" y="966851"/>
                  </a:moveTo>
                  <a:cubicBezTo>
                    <a:pt x="0" y="432816"/>
                    <a:pt x="432816" y="0"/>
                    <a:pt x="966851" y="0"/>
                  </a:cubicBezTo>
                  <a:cubicBezTo>
                    <a:pt x="1500886" y="0"/>
                    <a:pt x="1933702" y="432816"/>
                    <a:pt x="1933702" y="966851"/>
                  </a:cubicBezTo>
                  <a:cubicBezTo>
                    <a:pt x="1933702" y="1500886"/>
                    <a:pt x="1500886" y="1933702"/>
                    <a:pt x="966851" y="1933702"/>
                  </a:cubicBezTo>
                  <a:cubicBezTo>
                    <a:pt x="432816" y="1933702"/>
                    <a:pt x="0" y="1500886"/>
                    <a:pt x="0" y="966851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-958310" y="9191530"/>
            <a:ext cx="2053780" cy="2053780"/>
            <a:chOff x="0" y="0"/>
            <a:chExt cx="2738374" cy="27383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38374" cy="2738374"/>
            </a:xfrm>
            <a:custGeom>
              <a:avLst/>
              <a:gdLst/>
              <a:ahLst/>
              <a:cxnLst/>
              <a:rect r="r" b="b" t="t" l="l"/>
              <a:pathLst>
                <a:path h="2738374" w="2738374">
                  <a:moveTo>
                    <a:pt x="0" y="1369187"/>
                  </a:moveTo>
                  <a:cubicBezTo>
                    <a:pt x="0" y="613029"/>
                    <a:pt x="613029" y="0"/>
                    <a:pt x="1369187" y="0"/>
                  </a:cubicBezTo>
                  <a:cubicBezTo>
                    <a:pt x="2125345" y="0"/>
                    <a:pt x="2738374" y="613029"/>
                    <a:pt x="2738374" y="1369187"/>
                  </a:cubicBezTo>
                  <a:cubicBezTo>
                    <a:pt x="2738374" y="2125345"/>
                    <a:pt x="2125345" y="2738374"/>
                    <a:pt x="1369187" y="2738374"/>
                  </a:cubicBezTo>
                  <a:cubicBezTo>
                    <a:pt x="613029" y="2738374"/>
                    <a:pt x="0" y="2125345"/>
                    <a:pt x="0" y="1369187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-1260062" y="8889778"/>
            <a:ext cx="2657284" cy="2657284"/>
            <a:chOff x="0" y="0"/>
            <a:chExt cx="3543046" cy="35430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43046" cy="3543046"/>
            </a:xfrm>
            <a:custGeom>
              <a:avLst/>
              <a:gdLst/>
              <a:ahLst/>
              <a:cxnLst/>
              <a:rect r="r" b="b" t="t" l="l"/>
              <a:pathLst>
                <a:path h="3543046" w="3543046">
                  <a:moveTo>
                    <a:pt x="0" y="1771523"/>
                  </a:moveTo>
                  <a:cubicBezTo>
                    <a:pt x="0" y="793115"/>
                    <a:pt x="793115" y="0"/>
                    <a:pt x="1771523" y="0"/>
                  </a:cubicBezTo>
                  <a:cubicBezTo>
                    <a:pt x="2749931" y="0"/>
                    <a:pt x="3543046" y="793115"/>
                    <a:pt x="3543046" y="1771523"/>
                  </a:cubicBezTo>
                  <a:cubicBezTo>
                    <a:pt x="3543046" y="2749931"/>
                    <a:pt x="2749931" y="3543046"/>
                    <a:pt x="1771523" y="3543046"/>
                  </a:cubicBezTo>
                  <a:cubicBezTo>
                    <a:pt x="793115" y="3543046"/>
                    <a:pt x="0" y="2749931"/>
                    <a:pt x="0" y="1771523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-1561814" y="8588026"/>
            <a:ext cx="3260788" cy="3260788"/>
            <a:chOff x="0" y="0"/>
            <a:chExt cx="4347718" cy="43477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47718" cy="4347718"/>
            </a:xfrm>
            <a:custGeom>
              <a:avLst/>
              <a:gdLst/>
              <a:ahLst/>
              <a:cxnLst/>
              <a:rect r="r" b="b" t="t" l="l"/>
              <a:pathLst>
                <a:path h="4347718" w="4347718">
                  <a:moveTo>
                    <a:pt x="0" y="2173859"/>
                  </a:moveTo>
                  <a:cubicBezTo>
                    <a:pt x="0" y="973328"/>
                    <a:pt x="973328" y="0"/>
                    <a:pt x="2173859" y="0"/>
                  </a:cubicBezTo>
                  <a:cubicBezTo>
                    <a:pt x="3374390" y="0"/>
                    <a:pt x="4347718" y="973328"/>
                    <a:pt x="4347718" y="2173859"/>
                  </a:cubicBezTo>
                  <a:cubicBezTo>
                    <a:pt x="4347718" y="3374390"/>
                    <a:pt x="3374390" y="4347718"/>
                    <a:pt x="2173859" y="4347718"/>
                  </a:cubicBezTo>
                  <a:cubicBezTo>
                    <a:pt x="973328" y="4347718"/>
                    <a:pt x="0" y="3374390"/>
                    <a:pt x="0" y="2173859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-1863566" y="8286274"/>
            <a:ext cx="3864292" cy="3864292"/>
            <a:chOff x="0" y="0"/>
            <a:chExt cx="5152390" cy="51523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52390" cy="5152390"/>
            </a:xfrm>
            <a:custGeom>
              <a:avLst/>
              <a:gdLst/>
              <a:ahLst/>
              <a:cxnLst/>
              <a:rect r="r" b="b" t="t" l="l"/>
              <a:pathLst>
                <a:path h="5152390" w="5152390">
                  <a:moveTo>
                    <a:pt x="0" y="2576195"/>
                  </a:moveTo>
                  <a:cubicBezTo>
                    <a:pt x="0" y="1153414"/>
                    <a:pt x="1153414" y="0"/>
                    <a:pt x="2576195" y="0"/>
                  </a:cubicBezTo>
                  <a:cubicBezTo>
                    <a:pt x="3998976" y="0"/>
                    <a:pt x="5152390" y="1153414"/>
                    <a:pt x="5152390" y="2576195"/>
                  </a:cubicBezTo>
                  <a:cubicBezTo>
                    <a:pt x="5152390" y="3998976"/>
                    <a:pt x="3998976" y="5152390"/>
                    <a:pt x="2576195" y="5152390"/>
                  </a:cubicBezTo>
                  <a:cubicBezTo>
                    <a:pt x="1153414" y="5152390"/>
                    <a:pt x="0" y="3998976"/>
                    <a:pt x="0" y="2576195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368415" y="1019175"/>
            <a:ext cx="5505450" cy="704850"/>
            <a:chOff x="0" y="0"/>
            <a:chExt cx="7340600" cy="939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40600" cy="939800"/>
            </a:xfrm>
            <a:custGeom>
              <a:avLst/>
              <a:gdLst/>
              <a:ahLst/>
              <a:cxnLst/>
              <a:rect r="r" b="b" t="t" l="l"/>
              <a:pathLst>
                <a:path h="939800" w="73406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6870700" y="0"/>
                  </a:lnTo>
                  <a:cubicBezTo>
                    <a:pt x="7130161" y="0"/>
                    <a:pt x="7340600" y="210439"/>
                    <a:pt x="7340600" y="469900"/>
                  </a:cubicBezTo>
                  <a:cubicBezTo>
                    <a:pt x="7340600" y="729361"/>
                    <a:pt x="7130161" y="939800"/>
                    <a:pt x="6870700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2193" r="0" b="-102193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377940" y="1028700"/>
            <a:ext cx="5486400" cy="685800"/>
            <a:chOff x="0" y="0"/>
            <a:chExt cx="73152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0" cy="914400"/>
            </a:xfrm>
            <a:custGeom>
              <a:avLst/>
              <a:gdLst/>
              <a:ahLst/>
              <a:cxnLst/>
              <a:rect r="r" b="b" t="t" l="l"/>
              <a:pathLst>
                <a:path h="9144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315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KLH University · Sec 10 · Team 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97280" y="2125980"/>
            <a:ext cx="16047720" cy="2880360"/>
            <a:chOff x="0" y="0"/>
            <a:chExt cx="21396960" cy="3840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396961" cy="3840480"/>
            </a:xfrm>
            <a:custGeom>
              <a:avLst/>
              <a:gdLst/>
              <a:ahLst/>
              <a:cxnLst/>
              <a:rect r="r" b="b" t="t" l="l"/>
              <a:pathLst>
                <a:path h="384048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1396960" cy="3840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440"/>
                </a:lnSpc>
              </a:pPr>
              <a:r>
                <a:rPr lang="en-US" sz="87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Interview Practice</a:t>
              </a:r>
            </a:p>
            <a:p>
              <a:pPr algn="ctr">
                <a:lnSpc>
                  <a:spcPts val="10440"/>
                </a:lnSpc>
              </a:pPr>
              <a:r>
                <a:rPr lang="en-US" sz="87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Platform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97280" y="4965192"/>
            <a:ext cx="16047720" cy="754380"/>
            <a:chOff x="0" y="0"/>
            <a:chExt cx="2139696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3969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4499" r="0" b="-36449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21396960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7FE0E8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AI Resume Matching &amp; Feedback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057400" y="5966460"/>
            <a:ext cx="14127480" cy="685800"/>
            <a:chOff x="0" y="0"/>
            <a:chExt cx="1883664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836639" cy="914400"/>
            </a:xfrm>
            <a:custGeom>
              <a:avLst/>
              <a:gdLst/>
              <a:ahLst/>
              <a:cxnLst/>
              <a:rect r="r" b="b" t="t" l="l"/>
              <a:pathLst>
                <a:path h="91440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1391" r="0" b="-35139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88366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9B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Database Systems Engineering and Distributed Backend Development (25CS1302E)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rot="14280">
            <a:off x="7399477" y="6825806"/>
            <a:ext cx="3443316" cy="0"/>
          </a:xfrm>
          <a:prstGeom prst="line">
            <a:avLst/>
          </a:prstGeom>
          <a:ln cap="rnd" w="9525">
            <a:solidFill>
              <a:srgbClr val="FFFFFF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3627596" y="7262336"/>
            <a:ext cx="3649028" cy="1454468"/>
            <a:chOff x="0" y="0"/>
            <a:chExt cx="4865370" cy="193929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65370" cy="1939290"/>
            </a:xfrm>
            <a:custGeom>
              <a:avLst/>
              <a:gdLst/>
              <a:ahLst/>
              <a:cxnLst/>
              <a:rect r="r" b="b" t="t" l="l"/>
              <a:pathLst>
                <a:path h="1939290" w="4865370">
                  <a:moveTo>
                    <a:pt x="0" y="221615"/>
                  </a:moveTo>
                  <a:cubicBezTo>
                    <a:pt x="0" y="99187"/>
                    <a:pt x="99187" y="0"/>
                    <a:pt x="221615" y="0"/>
                  </a:cubicBezTo>
                  <a:lnTo>
                    <a:pt x="4643755" y="0"/>
                  </a:lnTo>
                  <a:cubicBezTo>
                    <a:pt x="4766183" y="0"/>
                    <a:pt x="4865370" y="99187"/>
                    <a:pt x="4865370" y="221615"/>
                  </a:cubicBezTo>
                  <a:lnTo>
                    <a:pt x="4865370" y="1717675"/>
                  </a:lnTo>
                  <a:cubicBezTo>
                    <a:pt x="4865370" y="1840103"/>
                    <a:pt x="4766183" y="1939290"/>
                    <a:pt x="4643755" y="1939290"/>
                  </a:cubicBezTo>
                  <a:lnTo>
                    <a:pt x="221615" y="1939290"/>
                  </a:lnTo>
                  <a:cubicBezTo>
                    <a:pt x="99187" y="1939290"/>
                    <a:pt x="0" y="1840103"/>
                    <a:pt x="0" y="1717675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3840480" y="7406640"/>
            <a:ext cx="3223260" cy="548640"/>
            <a:chOff x="0" y="0"/>
            <a:chExt cx="429768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9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4297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Rasagnya M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840480" y="7927848"/>
            <a:ext cx="3223260" cy="548640"/>
            <a:chOff x="0" y="0"/>
            <a:chExt cx="429768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9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297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9B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2520090018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742396" y="7262336"/>
            <a:ext cx="3649028" cy="1454468"/>
            <a:chOff x="0" y="0"/>
            <a:chExt cx="4865370" cy="193929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65370" cy="1939290"/>
            </a:xfrm>
            <a:custGeom>
              <a:avLst/>
              <a:gdLst/>
              <a:ahLst/>
              <a:cxnLst/>
              <a:rect r="r" b="b" t="t" l="l"/>
              <a:pathLst>
                <a:path h="1939290" w="4865370">
                  <a:moveTo>
                    <a:pt x="0" y="221615"/>
                  </a:moveTo>
                  <a:cubicBezTo>
                    <a:pt x="0" y="99187"/>
                    <a:pt x="99187" y="0"/>
                    <a:pt x="221615" y="0"/>
                  </a:cubicBezTo>
                  <a:lnTo>
                    <a:pt x="4643755" y="0"/>
                  </a:lnTo>
                  <a:cubicBezTo>
                    <a:pt x="4766183" y="0"/>
                    <a:pt x="4865370" y="99187"/>
                    <a:pt x="4865370" y="221615"/>
                  </a:cubicBezTo>
                  <a:lnTo>
                    <a:pt x="4865370" y="1717675"/>
                  </a:lnTo>
                  <a:cubicBezTo>
                    <a:pt x="4865370" y="1840103"/>
                    <a:pt x="4766183" y="1939290"/>
                    <a:pt x="4643755" y="1939290"/>
                  </a:cubicBezTo>
                  <a:lnTo>
                    <a:pt x="221615" y="1939290"/>
                  </a:lnTo>
                  <a:cubicBezTo>
                    <a:pt x="99187" y="1939290"/>
                    <a:pt x="0" y="1840103"/>
                    <a:pt x="0" y="1717675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7955280" y="7406640"/>
            <a:ext cx="3223260" cy="548640"/>
            <a:chOff x="0" y="0"/>
            <a:chExt cx="429768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9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4297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Niyathi K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955280" y="7927848"/>
            <a:ext cx="3223260" cy="548640"/>
            <a:chOff x="0" y="0"/>
            <a:chExt cx="429768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9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297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9B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2520090072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857196" y="7262336"/>
            <a:ext cx="3649028" cy="1454468"/>
            <a:chOff x="0" y="0"/>
            <a:chExt cx="4865370" cy="193929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865370" cy="1939290"/>
            </a:xfrm>
            <a:custGeom>
              <a:avLst/>
              <a:gdLst/>
              <a:ahLst/>
              <a:cxnLst/>
              <a:rect r="r" b="b" t="t" l="l"/>
              <a:pathLst>
                <a:path h="1939290" w="4865370">
                  <a:moveTo>
                    <a:pt x="0" y="221615"/>
                  </a:moveTo>
                  <a:cubicBezTo>
                    <a:pt x="0" y="99187"/>
                    <a:pt x="99187" y="0"/>
                    <a:pt x="221615" y="0"/>
                  </a:cubicBezTo>
                  <a:lnTo>
                    <a:pt x="4643755" y="0"/>
                  </a:lnTo>
                  <a:cubicBezTo>
                    <a:pt x="4766183" y="0"/>
                    <a:pt x="4865370" y="99187"/>
                    <a:pt x="4865370" y="221615"/>
                  </a:cubicBezTo>
                  <a:lnTo>
                    <a:pt x="4865370" y="1717675"/>
                  </a:lnTo>
                  <a:cubicBezTo>
                    <a:pt x="4865370" y="1840103"/>
                    <a:pt x="4766183" y="1939290"/>
                    <a:pt x="4643755" y="1939290"/>
                  </a:cubicBezTo>
                  <a:lnTo>
                    <a:pt x="221615" y="1939290"/>
                  </a:lnTo>
                  <a:cubicBezTo>
                    <a:pt x="99187" y="1939290"/>
                    <a:pt x="0" y="1840103"/>
                    <a:pt x="0" y="1717675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070080" y="7406640"/>
            <a:ext cx="3223260" cy="548640"/>
            <a:chOff x="0" y="0"/>
            <a:chExt cx="429768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9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4297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Varshith Comple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070080" y="7927848"/>
            <a:ext cx="3223260" cy="548640"/>
            <a:chOff x="0" y="0"/>
            <a:chExt cx="429768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29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4297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9B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2520080016</a:t>
              </a:r>
            </a:p>
          </p:txBody>
        </p:sp>
      </p:grpSp>
      <p:sp>
        <p:nvSpPr>
          <p:cNvPr name="Freeform 66" id="66"/>
          <p:cNvSpPr/>
          <p:nvPr/>
        </p:nvSpPr>
        <p:spPr>
          <a:xfrm flipH="true" flipV="false" rot="0">
            <a:off x="15374873" y="2422890"/>
            <a:ext cx="4839226" cy="4361352"/>
          </a:xfrm>
          <a:custGeom>
            <a:avLst/>
            <a:gdLst/>
            <a:ahLst/>
            <a:cxnLst/>
            <a:rect r="r" b="b" t="t" l="l"/>
            <a:pathLst>
              <a:path h="4361352" w="4839226">
                <a:moveTo>
                  <a:pt x="4839225" y="0"/>
                </a:moveTo>
                <a:lnTo>
                  <a:pt x="0" y="0"/>
                </a:lnTo>
                <a:lnTo>
                  <a:pt x="0" y="4361352"/>
                </a:lnTo>
                <a:lnTo>
                  <a:pt x="4839225" y="4361352"/>
                </a:lnTo>
                <a:lnTo>
                  <a:pt x="4839225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-1741950" y="3410316"/>
            <a:ext cx="4839226" cy="4361352"/>
          </a:xfrm>
          <a:custGeom>
            <a:avLst/>
            <a:gdLst/>
            <a:ahLst/>
            <a:cxnLst/>
            <a:rect r="r" b="b" t="t" l="l"/>
            <a:pathLst>
              <a:path h="4361352" w="4839226">
                <a:moveTo>
                  <a:pt x="0" y="0"/>
                </a:moveTo>
                <a:lnTo>
                  <a:pt x="4839225" y="0"/>
                </a:lnTo>
                <a:lnTo>
                  <a:pt x="4839225" y="4361352"/>
                </a:lnTo>
                <a:lnTo>
                  <a:pt x="0" y="43613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76698" y="156951"/>
            <a:ext cx="4094514" cy="1943367"/>
          </a:xfrm>
          <a:custGeom>
            <a:avLst/>
            <a:gdLst/>
            <a:ahLst/>
            <a:cxnLst/>
            <a:rect r="r" b="b" t="t" l="l"/>
            <a:pathLst>
              <a:path h="1943367" w="4094514">
                <a:moveTo>
                  <a:pt x="0" y="0"/>
                </a:moveTo>
                <a:lnTo>
                  <a:pt x="4094515" y="0"/>
                </a:lnTo>
                <a:lnTo>
                  <a:pt x="4094515" y="1943367"/>
                </a:lnTo>
                <a:lnTo>
                  <a:pt x="0" y="19433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6275" y="607695"/>
            <a:ext cx="3310890" cy="567690"/>
            <a:chOff x="0" y="0"/>
            <a:chExt cx="4414520" cy="756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4520" cy="756920"/>
            </a:xfrm>
            <a:custGeom>
              <a:avLst/>
              <a:gdLst/>
              <a:ahLst/>
              <a:cxnLst/>
              <a:rect r="r" b="b" t="t" l="l"/>
              <a:pathLst>
                <a:path h="756920" w="44145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036060" y="0"/>
                  </a:lnTo>
                  <a:cubicBezTo>
                    <a:pt x="4245102" y="0"/>
                    <a:pt x="4414520" y="169418"/>
                    <a:pt x="4414520" y="378460"/>
                  </a:cubicBezTo>
                  <a:cubicBezTo>
                    <a:pt x="4414520" y="587502"/>
                    <a:pt x="4245102" y="756920"/>
                    <a:pt x="403606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40" r="0" b="-6364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3291840" cy="548640"/>
            <a:chOff x="0" y="0"/>
            <a:chExt cx="43891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89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1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 · CONTEXT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1371600"/>
            <a:ext cx="14401800" cy="1234440"/>
            <a:chOff x="0" y="0"/>
            <a:chExt cx="192024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2024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2811780"/>
            <a:ext cx="9189720" cy="1783080"/>
            <a:chOff x="0" y="0"/>
            <a:chExt cx="12252960" cy="2377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529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422" r="0" b="-5042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252960" cy="2425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Job seekers struggle to find roles that genuinely fit their skills, and even when they land an interview, most prepare with generic questions that don't reflect the role — or get zero feedback on how they actually performed.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3894" y="4788694"/>
            <a:ext cx="503872" cy="503872"/>
            <a:chOff x="0" y="0"/>
            <a:chExt cx="671830" cy="6718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1830" cy="671830"/>
            </a:xfrm>
            <a:custGeom>
              <a:avLst/>
              <a:gdLst/>
              <a:ahLst/>
              <a:cxnLst/>
              <a:rect r="r" b="b" t="t" l="l"/>
              <a:pathLst>
                <a:path h="671830" w="67183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556641" y="0"/>
                  </a:lnTo>
                  <a:cubicBezTo>
                    <a:pt x="620268" y="0"/>
                    <a:pt x="671830" y="51562"/>
                    <a:pt x="671830" y="115189"/>
                  </a:cubicBezTo>
                  <a:lnTo>
                    <a:pt x="671830" y="556641"/>
                  </a:lnTo>
                  <a:cubicBezTo>
                    <a:pt x="671830" y="620268"/>
                    <a:pt x="620268" y="671830"/>
                    <a:pt x="556641" y="671830"/>
                  </a:cubicBezTo>
                  <a:lnTo>
                    <a:pt x="115189" y="671830"/>
                  </a:lnTo>
                  <a:cubicBezTo>
                    <a:pt x="51562" y="671830"/>
                    <a:pt x="0" y="620268"/>
                    <a:pt x="0" y="55664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85800" y="4800600"/>
            <a:ext cx="480060" cy="480060"/>
            <a:chOff x="0" y="0"/>
            <a:chExt cx="64008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40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D98F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1600" y="4732020"/>
            <a:ext cx="8641080" cy="1165860"/>
            <a:chOff x="0" y="0"/>
            <a:chExt cx="11521440" cy="15544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214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418" r="0" b="-9441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1152144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personalized job matching</a:t>
              </a:r>
            </a:p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Resumes are manually screened or keyword-filtered, missing better-fit roles a candidate never sees.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3894" y="6132862"/>
            <a:ext cx="503872" cy="503872"/>
            <a:chOff x="0" y="0"/>
            <a:chExt cx="671830" cy="6718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1830" cy="671830"/>
            </a:xfrm>
            <a:custGeom>
              <a:avLst/>
              <a:gdLst/>
              <a:ahLst/>
              <a:cxnLst/>
              <a:rect r="r" b="b" t="t" l="l"/>
              <a:pathLst>
                <a:path h="671830" w="67183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556641" y="0"/>
                  </a:lnTo>
                  <a:cubicBezTo>
                    <a:pt x="620268" y="0"/>
                    <a:pt x="671830" y="51562"/>
                    <a:pt x="671830" y="115189"/>
                  </a:cubicBezTo>
                  <a:lnTo>
                    <a:pt x="671830" y="556641"/>
                  </a:lnTo>
                  <a:cubicBezTo>
                    <a:pt x="671830" y="620268"/>
                    <a:pt x="620268" y="671830"/>
                    <a:pt x="556641" y="671830"/>
                  </a:cubicBezTo>
                  <a:lnTo>
                    <a:pt x="115189" y="671830"/>
                  </a:lnTo>
                  <a:cubicBezTo>
                    <a:pt x="51562" y="671830"/>
                    <a:pt x="0" y="620268"/>
                    <a:pt x="0" y="55664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85800" y="6144768"/>
            <a:ext cx="480060" cy="480060"/>
            <a:chOff x="0" y="0"/>
            <a:chExt cx="64008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40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D98F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1600" y="6076188"/>
            <a:ext cx="8641080" cy="1165860"/>
            <a:chOff x="0" y="0"/>
            <a:chExt cx="11521440" cy="1554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5214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418" r="0" b="-9441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1152144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Generic interview prep</a:t>
              </a:r>
            </a:p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One-size-fits-all question banks don't target the specific role's likely questions or a candidate's own gaps.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73894" y="7477030"/>
            <a:ext cx="503872" cy="503872"/>
            <a:chOff x="0" y="0"/>
            <a:chExt cx="671830" cy="67183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71830" cy="671830"/>
            </a:xfrm>
            <a:custGeom>
              <a:avLst/>
              <a:gdLst/>
              <a:ahLst/>
              <a:cxnLst/>
              <a:rect r="r" b="b" t="t" l="l"/>
              <a:pathLst>
                <a:path h="671830" w="67183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556641" y="0"/>
                  </a:lnTo>
                  <a:cubicBezTo>
                    <a:pt x="620268" y="0"/>
                    <a:pt x="671830" y="51562"/>
                    <a:pt x="671830" y="115189"/>
                  </a:cubicBezTo>
                  <a:lnTo>
                    <a:pt x="671830" y="556641"/>
                  </a:lnTo>
                  <a:cubicBezTo>
                    <a:pt x="671830" y="620268"/>
                    <a:pt x="620268" y="671830"/>
                    <a:pt x="556641" y="671830"/>
                  </a:cubicBezTo>
                  <a:lnTo>
                    <a:pt x="115189" y="671830"/>
                  </a:lnTo>
                  <a:cubicBezTo>
                    <a:pt x="51562" y="671830"/>
                    <a:pt x="0" y="620268"/>
                    <a:pt x="0" y="55664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85800" y="7488936"/>
            <a:ext cx="480060" cy="480060"/>
            <a:chOff x="0" y="0"/>
            <a:chExt cx="640080" cy="640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40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D98F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71600" y="7420356"/>
            <a:ext cx="8641080" cy="1165860"/>
            <a:chOff x="0" y="0"/>
            <a:chExt cx="11521440" cy="15544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5214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418" r="0" b="-9441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1152144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feedback loop</a:t>
              </a:r>
            </a:p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Practicing alone gives no insight into answer quality, pacing, or delivery — the things that actually decide interviews.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409872" y="2797492"/>
            <a:ext cx="7229475" cy="5995035"/>
            <a:chOff x="0" y="0"/>
            <a:chExt cx="9639300" cy="79933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39300" cy="7993380"/>
            </a:xfrm>
            <a:custGeom>
              <a:avLst/>
              <a:gdLst/>
              <a:ahLst/>
              <a:cxnLst/>
              <a:rect r="r" b="b" t="t" l="l"/>
              <a:pathLst>
                <a:path h="7993380" w="9639300">
                  <a:moveTo>
                    <a:pt x="0" y="220599"/>
                  </a:moveTo>
                  <a:cubicBezTo>
                    <a:pt x="0" y="98679"/>
                    <a:pt x="98679" y="0"/>
                    <a:pt x="220599" y="0"/>
                  </a:cubicBezTo>
                  <a:lnTo>
                    <a:pt x="9418701" y="0"/>
                  </a:lnTo>
                  <a:cubicBezTo>
                    <a:pt x="9540621" y="0"/>
                    <a:pt x="9639300" y="98679"/>
                    <a:pt x="9639300" y="220599"/>
                  </a:cubicBezTo>
                  <a:lnTo>
                    <a:pt x="9639300" y="7772781"/>
                  </a:lnTo>
                  <a:cubicBezTo>
                    <a:pt x="9639300" y="7894575"/>
                    <a:pt x="9540621" y="7993380"/>
                    <a:pt x="9418701" y="7993380"/>
                  </a:cubicBezTo>
                  <a:lnTo>
                    <a:pt x="220599" y="7993380"/>
                  </a:lnTo>
                  <a:cubicBezTo>
                    <a:pt x="98679" y="7993380"/>
                    <a:pt x="0" y="7894701"/>
                    <a:pt x="0" y="7772781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6E5FA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835640" y="3154680"/>
            <a:ext cx="6446520" cy="548640"/>
            <a:chOff x="0" y="0"/>
            <a:chExt cx="859536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9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85953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Gap Today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835640" y="3977640"/>
            <a:ext cx="6446520" cy="685800"/>
            <a:chOff x="0" y="0"/>
            <a:chExt cx="859536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95360" cy="914400"/>
            </a:xfrm>
            <a:custGeom>
              <a:avLst/>
              <a:gdLst/>
              <a:ahLst/>
              <a:cxnLst/>
              <a:rect r="r" b="b" t="t" l="l"/>
              <a:pathLst>
                <a:path h="9144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76200"/>
              <a:ext cx="859536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75%+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835640" y="4732020"/>
            <a:ext cx="6446520" cy="754380"/>
            <a:chOff x="0" y="0"/>
            <a:chExt cx="859536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595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508" r="0" b="-11650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85953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resumes are filtered out by ATS or recruiters before a human ever reads them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835640" y="5554980"/>
            <a:ext cx="6446520" cy="685800"/>
            <a:chOff x="0" y="0"/>
            <a:chExt cx="859536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95360" cy="914400"/>
            </a:xfrm>
            <a:custGeom>
              <a:avLst/>
              <a:gdLst/>
              <a:ahLst/>
              <a:cxnLst/>
              <a:rect r="r" b="b" t="t" l="l"/>
              <a:pathLst>
                <a:path h="9144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859536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Few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835640" y="6309360"/>
            <a:ext cx="6446520" cy="754380"/>
            <a:chOff x="0" y="0"/>
            <a:chExt cx="8595360" cy="1005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595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508" r="0" b="-11650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85953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candidates can access affordable, role-specific interview coaching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835640" y="7132320"/>
            <a:ext cx="6446520" cy="685800"/>
            <a:chOff x="0" y="0"/>
            <a:chExt cx="859536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595360" cy="914400"/>
            </a:xfrm>
            <a:custGeom>
              <a:avLst/>
              <a:gdLst/>
              <a:ahLst/>
              <a:cxnLst/>
              <a:rect r="r" b="b" t="t" l="l"/>
              <a:pathLst>
                <a:path h="9144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76200"/>
              <a:ext cx="859536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Zero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835640" y="7886700"/>
            <a:ext cx="6446520" cy="754380"/>
            <a:chOff x="0" y="0"/>
            <a:chExt cx="8595360" cy="10058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595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508" r="0" b="-11650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85953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structured feedback on delivery when practicing alone at home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 Practice Platform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6275" y="607695"/>
            <a:ext cx="3310890" cy="567690"/>
            <a:chOff x="0" y="0"/>
            <a:chExt cx="4414520" cy="756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4520" cy="756920"/>
            </a:xfrm>
            <a:custGeom>
              <a:avLst/>
              <a:gdLst/>
              <a:ahLst/>
              <a:cxnLst/>
              <a:rect r="r" b="b" t="t" l="l"/>
              <a:pathLst>
                <a:path h="756920" w="44145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036060" y="0"/>
                  </a:lnTo>
                  <a:cubicBezTo>
                    <a:pt x="4245102" y="0"/>
                    <a:pt x="4414520" y="169418"/>
                    <a:pt x="4414520" y="378460"/>
                  </a:cubicBezTo>
                  <a:cubicBezTo>
                    <a:pt x="4414520" y="587502"/>
                    <a:pt x="4245102" y="756920"/>
                    <a:pt x="403606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40" r="0" b="-6364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3291840" cy="548640"/>
            <a:chOff x="0" y="0"/>
            <a:chExt cx="43891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89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1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 · GOALS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1371600"/>
            <a:ext cx="14401800" cy="1234440"/>
            <a:chOff x="0" y="0"/>
            <a:chExt cx="192024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2024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2743200"/>
            <a:ext cx="15773400" cy="685800"/>
            <a:chOff x="0" y="0"/>
            <a:chExt cx="210312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03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this project sets out to achieve, mapped to the problems identified above.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1512" y="3346133"/>
            <a:ext cx="8121015" cy="1701927"/>
            <a:chOff x="0" y="0"/>
            <a:chExt cx="10828020" cy="22692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28020" cy="2269236"/>
            </a:xfrm>
            <a:custGeom>
              <a:avLst/>
              <a:gdLst/>
              <a:ahLst/>
              <a:cxnLst/>
              <a:rect r="r" b="b" t="t" l="l"/>
              <a:pathLst>
                <a:path h="2269236" w="10828020">
                  <a:moveTo>
                    <a:pt x="0" y="223139"/>
                  </a:moveTo>
                  <a:cubicBezTo>
                    <a:pt x="0" y="99949"/>
                    <a:pt x="99949" y="0"/>
                    <a:pt x="223139" y="0"/>
                  </a:cubicBezTo>
                  <a:lnTo>
                    <a:pt x="10604881" y="0"/>
                  </a:lnTo>
                  <a:cubicBezTo>
                    <a:pt x="10728199" y="0"/>
                    <a:pt x="10828020" y="99949"/>
                    <a:pt x="10828020" y="223139"/>
                  </a:cubicBezTo>
                  <a:lnTo>
                    <a:pt x="10828020" y="2046097"/>
                  </a:lnTo>
                  <a:cubicBezTo>
                    <a:pt x="10828020" y="2169414"/>
                    <a:pt x="10728072" y="2269236"/>
                    <a:pt x="10604881" y="2269236"/>
                  </a:cubicBezTo>
                  <a:lnTo>
                    <a:pt x="223139" y="2269236"/>
                  </a:lnTo>
                  <a:cubicBezTo>
                    <a:pt x="99949" y="2269236"/>
                    <a:pt x="0" y="2169287"/>
                    <a:pt x="0" y="2046097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60120" y="3497580"/>
            <a:ext cx="960120" cy="480060"/>
            <a:chOff x="0" y="0"/>
            <a:chExt cx="128016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016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28016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0120" y="3909060"/>
            <a:ext cx="7543800" cy="411480"/>
            <a:chOff x="0" y="0"/>
            <a:chExt cx="10058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058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Accurate resume parsing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120" y="4320540"/>
            <a:ext cx="7543800" cy="658368"/>
            <a:chOff x="0" y="0"/>
            <a:chExt cx="10058400" cy="8778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0" cy="877824"/>
            </a:xfrm>
            <a:custGeom>
              <a:avLst/>
              <a:gdLst/>
              <a:ahLst/>
              <a:cxnLst/>
              <a:rect r="r" b="b" t="t" l="l"/>
              <a:pathLst>
                <a:path h="87782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266" r="0" b="-17326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005840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Extract skills, experience and role signals from a candidate's resume reliably.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44012" y="3346133"/>
            <a:ext cx="8121015" cy="1701927"/>
            <a:chOff x="0" y="0"/>
            <a:chExt cx="10828020" cy="22692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828020" cy="2269236"/>
            </a:xfrm>
            <a:custGeom>
              <a:avLst/>
              <a:gdLst/>
              <a:ahLst/>
              <a:cxnLst/>
              <a:rect r="r" b="b" t="t" l="l"/>
              <a:pathLst>
                <a:path h="2269236" w="10828020">
                  <a:moveTo>
                    <a:pt x="0" y="223139"/>
                  </a:moveTo>
                  <a:cubicBezTo>
                    <a:pt x="0" y="99949"/>
                    <a:pt x="99949" y="0"/>
                    <a:pt x="223139" y="0"/>
                  </a:cubicBezTo>
                  <a:lnTo>
                    <a:pt x="10604881" y="0"/>
                  </a:lnTo>
                  <a:cubicBezTo>
                    <a:pt x="10728199" y="0"/>
                    <a:pt x="10828020" y="99949"/>
                    <a:pt x="10828020" y="223139"/>
                  </a:cubicBezTo>
                  <a:lnTo>
                    <a:pt x="10828020" y="2046097"/>
                  </a:lnTo>
                  <a:cubicBezTo>
                    <a:pt x="10828020" y="2169414"/>
                    <a:pt x="10728072" y="2269236"/>
                    <a:pt x="10604881" y="2269236"/>
                  </a:cubicBezTo>
                  <a:lnTo>
                    <a:pt x="223139" y="2269236"/>
                  </a:lnTo>
                  <a:cubicBezTo>
                    <a:pt x="99949" y="2269236"/>
                    <a:pt x="0" y="2169287"/>
                    <a:pt x="0" y="2046097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532620" y="3497580"/>
            <a:ext cx="960120" cy="480060"/>
            <a:chOff x="0" y="0"/>
            <a:chExt cx="128016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016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28016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D98F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32620" y="3909060"/>
            <a:ext cx="7543800" cy="411480"/>
            <a:chOff x="0" y="0"/>
            <a:chExt cx="1005840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0058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Smarter job matching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32620" y="4320540"/>
            <a:ext cx="7543800" cy="658368"/>
            <a:chOff x="0" y="0"/>
            <a:chExt cx="10058400" cy="8778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58400" cy="877824"/>
            </a:xfrm>
            <a:custGeom>
              <a:avLst/>
              <a:gdLst/>
              <a:ahLst/>
              <a:cxnLst/>
              <a:rect r="r" b="b" t="t" l="l"/>
              <a:pathLst>
                <a:path h="87782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266" r="0" b="-17326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005840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Rank job fit using semantic similarity rather than keyword filters alone.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71512" y="5266372"/>
            <a:ext cx="8121015" cy="1701927"/>
            <a:chOff x="0" y="0"/>
            <a:chExt cx="10828020" cy="22692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28020" cy="2269236"/>
            </a:xfrm>
            <a:custGeom>
              <a:avLst/>
              <a:gdLst/>
              <a:ahLst/>
              <a:cxnLst/>
              <a:rect r="r" b="b" t="t" l="l"/>
              <a:pathLst>
                <a:path h="2269236" w="10828020">
                  <a:moveTo>
                    <a:pt x="0" y="223139"/>
                  </a:moveTo>
                  <a:cubicBezTo>
                    <a:pt x="0" y="99949"/>
                    <a:pt x="99949" y="0"/>
                    <a:pt x="223139" y="0"/>
                  </a:cubicBezTo>
                  <a:lnTo>
                    <a:pt x="10604881" y="0"/>
                  </a:lnTo>
                  <a:cubicBezTo>
                    <a:pt x="10728199" y="0"/>
                    <a:pt x="10828020" y="99949"/>
                    <a:pt x="10828020" y="223139"/>
                  </a:cubicBezTo>
                  <a:lnTo>
                    <a:pt x="10828020" y="2046097"/>
                  </a:lnTo>
                  <a:cubicBezTo>
                    <a:pt x="10828020" y="2169414"/>
                    <a:pt x="10728072" y="2269236"/>
                    <a:pt x="10604881" y="2269236"/>
                  </a:cubicBezTo>
                  <a:lnTo>
                    <a:pt x="223139" y="2269236"/>
                  </a:lnTo>
                  <a:cubicBezTo>
                    <a:pt x="99949" y="2269236"/>
                    <a:pt x="0" y="2169287"/>
                    <a:pt x="0" y="2046097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60120" y="5417820"/>
            <a:ext cx="960120" cy="480060"/>
            <a:chOff x="0" y="0"/>
            <a:chExt cx="1280160" cy="640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16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28016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0120" y="5829300"/>
            <a:ext cx="7543800" cy="411480"/>
            <a:chOff x="0" y="0"/>
            <a:chExt cx="10058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058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Role-specific mock interviews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0120" y="6240780"/>
            <a:ext cx="7543800" cy="658368"/>
            <a:chOff x="0" y="0"/>
            <a:chExt cx="10058400" cy="8778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058400" cy="877824"/>
            </a:xfrm>
            <a:custGeom>
              <a:avLst/>
              <a:gdLst/>
              <a:ahLst/>
              <a:cxnLst/>
              <a:rect r="r" b="b" t="t" l="l"/>
              <a:pathLst>
                <a:path h="87782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266" r="0" b="-17326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005840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 interview questions tailored to the matched job and the candidate's gaps.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244012" y="5266372"/>
            <a:ext cx="8121015" cy="1701927"/>
            <a:chOff x="0" y="0"/>
            <a:chExt cx="10828020" cy="22692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828020" cy="2269236"/>
            </a:xfrm>
            <a:custGeom>
              <a:avLst/>
              <a:gdLst/>
              <a:ahLst/>
              <a:cxnLst/>
              <a:rect r="r" b="b" t="t" l="l"/>
              <a:pathLst>
                <a:path h="2269236" w="10828020">
                  <a:moveTo>
                    <a:pt x="0" y="223139"/>
                  </a:moveTo>
                  <a:cubicBezTo>
                    <a:pt x="0" y="99949"/>
                    <a:pt x="99949" y="0"/>
                    <a:pt x="223139" y="0"/>
                  </a:cubicBezTo>
                  <a:lnTo>
                    <a:pt x="10604881" y="0"/>
                  </a:lnTo>
                  <a:cubicBezTo>
                    <a:pt x="10728199" y="0"/>
                    <a:pt x="10828020" y="99949"/>
                    <a:pt x="10828020" y="223139"/>
                  </a:cubicBezTo>
                  <a:lnTo>
                    <a:pt x="10828020" y="2046097"/>
                  </a:lnTo>
                  <a:cubicBezTo>
                    <a:pt x="10828020" y="2169414"/>
                    <a:pt x="10728072" y="2269236"/>
                    <a:pt x="10604881" y="2269236"/>
                  </a:cubicBezTo>
                  <a:lnTo>
                    <a:pt x="223139" y="2269236"/>
                  </a:lnTo>
                  <a:cubicBezTo>
                    <a:pt x="99949" y="2269236"/>
                    <a:pt x="0" y="2169287"/>
                    <a:pt x="0" y="2046097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532620" y="5417820"/>
            <a:ext cx="960120" cy="480060"/>
            <a:chOff x="0" y="0"/>
            <a:chExt cx="1280160" cy="640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8016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128016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D98F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532620" y="5829300"/>
            <a:ext cx="7543800" cy="411480"/>
            <a:chOff x="0" y="0"/>
            <a:chExt cx="100584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0058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Actionable feedback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532620" y="6240780"/>
            <a:ext cx="7543800" cy="658368"/>
            <a:chOff x="0" y="0"/>
            <a:chExt cx="10058400" cy="87782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058400" cy="877824"/>
            </a:xfrm>
            <a:custGeom>
              <a:avLst/>
              <a:gdLst/>
              <a:ahLst/>
              <a:cxnLst/>
              <a:rect r="r" b="b" t="t" l="l"/>
              <a:pathLst>
                <a:path h="87782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266" r="0" b="-17326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1005840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 spoken answers on content and delivery so candidates know what to improve.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71512" y="7186612"/>
            <a:ext cx="8121015" cy="1701927"/>
            <a:chOff x="0" y="0"/>
            <a:chExt cx="10828020" cy="226923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828020" cy="2269236"/>
            </a:xfrm>
            <a:custGeom>
              <a:avLst/>
              <a:gdLst/>
              <a:ahLst/>
              <a:cxnLst/>
              <a:rect r="r" b="b" t="t" l="l"/>
              <a:pathLst>
                <a:path h="2269236" w="10828020">
                  <a:moveTo>
                    <a:pt x="0" y="223139"/>
                  </a:moveTo>
                  <a:cubicBezTo>
                    <a:pt x="0" y="99949"/>
                    <a:pt x="99949" y="0"/>
                    <a:pt x="223139" y="0"/>
                  </a:cubicBezTo>
                  <a:lnTo>
                    <a:pt x="10604881" y="0"/>
                  </a:lnTo>
                  <a:cubicBezTo>
                    <a:pt x="10728199" y="0"/>
                    <a:pt x="10828020" y="99949"/>
                    <a:pt x="10828020" y="223139"/>
                  </a:cubicBezTo>
                  <a:lnTo>
                    <a:pt x="10828020" y="2046097"/>
                  </a:lnTo>
                  <a:cubicBezTo>
                    <a:pt x="10828020" y="2169414"/>
                    <a:pt x="10728072" y="2269236"/>
                    <a:pt x="10604881" y="2269236"/>
                  </a:cubicBezTo>
                  <a:lnTo>
                    <a:pt x="223139" y="2269236"/>
                  </a:lnTo>
                  <a:cubicBezTo>
                    <a:pt x="99949" y="2269236"/>
                    <a:pt x="0" y="2169287"/>
                    <a:pt x="0" y="2046097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60120" y="7338060"/>
            <a:ext cx="960120" cy="480060"/>
            <a:chOff x="0" y="0"/>
            <a:chExt cx="1280160" cy="6400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8016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128016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60120" y="7749540"/>
            <a:ext cx="7543800" cy="411480"/>
            <a:chOff x="0" y="0"/>
            <a:chExt cx="1005840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0058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Track progress over time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60120" y="8161020"/>
            <a:ext cx="7543800" cy="658368"/>
            <a:chOff x="0" y="0"/>
            <a:chExt cx="10058400" cy="87782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058400" cy="877824"/>
            </a:xfrm>
            <a:custGeom>
              <a:avLst/>
              <a:gdLst/>
              <a:ahLst/>
              <a:cxnLst/>
              <a:rect r="r" b="b" t="t" l="l"/>
              <a:pathLst>
                <a:path h="87782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266" r="0" b="-17326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005840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Store sessions, transcripts and scores so candidates can see improvement across attempts.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244012" y="7186612"/>
            <a:ext cx="8121015" cy="1701927"/>
            <a:chOff x="0" y="0"/>
            <a:chExt cx="10828020" cy="226923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828020" cy="2269236"/>
            </a:xfrm>
            <a:custGeom>
              <a:avLst/>
              <a:gdLst/>
              <a:ahLst/>
              <a:cxnLst/>
              <a:rect r="r" b="b" t="t" l="l"/>
              <a:pathLst>
                <a:path h="2269236" w="10828020">
                  <a:moveTo>
                    <a:pt x="0" y="223139"/>
                  </a:moveTo>
                  <a:cubicBezTo>
                    <a:pt x="0" y="99949"/>
                    <a:pt x="99949" y="0"/>
                    <a:pt x="223139" y="0"/>
                  </a:cubicBezTo>
                  <a:lnTo>
                    <a:pt x="10604881" y="0"/>
                  </a:lnTo>
                  <a:cubicBezTo>
                    <a:pt x="10728199" y="0"/>
                    <a:pt x="10828020" y="99949"/>
                    <a:pt x="10828020" y="223139"/>
                  </a:cubicBezTo>
                  <a:lnTo>
                    <a:pt x="10828020" y="2046097"/>
                  </a:lnTo>
                  <a:cubicBezTo>
                    <a:pt x="10828020" y="2169414"/>
                    <a:pt x="10728072" y="2269236"/>
                    <a:pt x="10604881" y="2269236"/>
                  </a:cubicBezTo>
                  <a:lnTo>
                    <a:pt x="223139" y="2269236"/>
                  </a:lnTo>
                  <a:cubicBezTo>
                    <a:pt x="99949" y="2269236"/>
                    <a:pt x="0" y="2169287"/>
                    <a:pt x="0" y="2046097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9532620" y="7338060"/>
            <a:ext cx="960120" cy="480060"/>
            <a:chOff x="0" y="0"/>
            <a:chExt cx="1280160" cy="6400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8016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128016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D98F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532620" y="7749540"/>
            <a:ext cx="7543800" cy="411480"/>
            <a:chOff x="0" y="0"/>
            <a:chExt cx="1005840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0058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Keep it accessible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532620" y="8161020"/>
            <a:ext cx="7543800" cy="658368"/>
            <a:chOff x="0" y="0"/>
            <a:chExt cx="10058400" cy="87782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058400" cy="877824"/>
            </a:xfrm>
            <a:custGeom>
              <a:avLst/>
              <a:gdLst/>
              <a:ahLst/>
              <a:cxnLst/>
              <a:rect r="r" b="b" t="t" l="l"/>
              <a:pathLst>
                <a:path h="87782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266" r="0" b="-17326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1005840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entirely on free-tier and open-source infrastructure so it stays affordable.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 Practice Platform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6275" y="607695"/>
            <a:ext cx="3310890" cy="567690"/>
            <a:chOff x="0" y="0"/>
            <a:chExt cx="4414520" cy="756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4520" cy="756920"/>
            </a:xfrm>
            <a:custGeom>
              <a:avLst/>
              <a:gdLst/>
              <a:ahLst/>
              <a:cxnLst/>
              <a:rect r="r" b="b" t="t" l="l"/>
              <a:pathLst>
                <a:path h="756920" w="44145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036060" y="0"/>
                  </a:lnTo>
                  <a:cubicBezTo>
                    <a:pt x="4245102" y="0"/>
                    <a:pt x="4414520" y="169418"/>
                    <a:pt x="4414520" y="378460"/>
                  </a:cubicBezTo>
                  <a:cubicBezTo>
                    <a:pt x="4414520" y="587502"/>
                    <a:pt x="4245102" y="756920"/>
                    <a:pt x="403606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40" r="0" b="-6364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3291840" cy="548640"/>
            <a:chOff x="0" y="0"/>
            <a:chExt cx="43891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89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1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 · APPROACH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1371600"/>
            <a:ext cx="14401800" cy="1234440"/>
            <a:chOff x="0" y="0"/>
            <a:chExt cx="192024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2024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System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2743200"/>
            <a:ext cx="16870680" cy="1234440"/>
            <a:chOff x="0" y="0"/>
            <a:chExt cx="22494240" cy="1645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942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9424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 AI-powered platform that matches candidates to roles from their resume, generates role-specific mock interview questions, captures spoken answers in-browser, and returns structured feedback — all running on free-tier and open-source infrastructure.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1512" y="4169092"/>
            <a:ext cx="8121015" cy="4966335"/>
            <a:chOff x="0" y="0"/>
            <a:chExt cx="10828020" cy="66217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28020" cy="6621780"/>
            </a:xfrm>
            <a:custGeom>
              <a:avLst/>
              <a:gdLst/>
              <a:ahLst/>
              <a:cxnLst/>
              <a:rect r="r" b="b" t="t" l="l"/>
              <a:pathLst>
                <a:path h="6621780" w="1082802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607294" y="0"/>
                  </a:lnTo>
                  <a:cubicBezTo>
                    <a:pt x="10729213" y="0"/>
                    <a:pt x="10828020" y="98806"/>
                    <a:pt x="10828020" y="220726"/>
                  </a:cubicBezTo>
                  <a:lnTo>
                    <a:pt x="10828020" y="6401054"/>
                  </a:lnTo>
                  <a:cubicBezTo>
                    <a:pt x="10828020" y="6522974"/>
                    <a:pt x="10729213" y="6621780"/>
                    <a:pt x="10607294" y="6621780"/>
                  </a:cubicBezTo>
                  <a:lnTo>
                    <a:pt x="220726" y="6621780"/>
                  </a:lnTo>
                  <a:cubicBezTo>
                    <a:pt x="98806" y="6621780"/>
                    <a:pt x="0" y="6522974"/>
                    <a:pt x="0" y="6401054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97280" y="4526280"/>
            <a:ext cx="617220" cy="617220"/>
            <a:chOff x="0" y="0"/>
            <a:chExt cx="82296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6656" y="0"/>
                  </a:lnTo>
                  <a:cubicBezTo>
                    <a:pt x="757428" y="0"/>
                    <a:pt x="822960" y="65532"/>
                    <a:pt x="822960" y="146304"/>
                  </a:cubicBezTo>
                  <a:lnTo>
                    <a:pt x="822960" y="676656"/>
                  </a:lnTo>
                  <a:cubicBezTo>
                    <a:pt x="822960" y="757428"/>
                    <a:pt x="757428" y="822960"/>
                    <a:pt x="676656" y="822960"/>
                  </a:cubicBezTo>
                  <a:lnTo>
                    <a:pt x="146304" y="822960"/>
                  </a:lnTo>
                  <a:cubicBezTo>
                    <a:pt x="65532" y="822960"/>
                    <a:pt x="0" y="757428"/>
                    <a:pt x="0" y="676656"/>
                  </a:cubicBezTo>
                  <a:close/>
                </a:path>
              </a:pathLst>
            </a:custGeom>
            <a:solidFill>
              <a:srgbClr val="5CE0D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920240" y="4526280"/>
            <a:ext cx="6720840" cy="617220"/>
            <a:chOff x="0" y="0"/>
            <a:chExt cx="8961120" cy="822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61120" cy="822960"/>
            </a:xfrm>
            <a:custGeom>
              <a:avLst/>
              <a:gdLst/>
              <a:ahLst/>
              <a:cxnLst/>
              <a:rect r="r" b="b" t="t" l="l"/>
              <a:pathLst>
                <a:path h="8229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896112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Resume &amp; Matching Service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5860" y="5486400"/>
            <a:ext cx="7132320" cy="754380"/>
            <a:chOff x="0" y="0"/>
            <a:chExt cx="950976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09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222" r="0" b="-13422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5097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spaCy — resume parsing, skill/experience extraction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65860" y="6309360"/>
            <a:ext cx="7132320" cy="754380"/>
            <a:chOff x="0" y="0"/>
            <a:chExt cx="950976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09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222" r="0" b="-13422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5097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sentence-transformers — embedding-based job similarity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5860" y="7132320"/>
            <a:ext cx="7132320" cy="754380"/>
            <a:chOff x="0" y="0"/>
            <a:chExt cx="950976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09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222" r="0" b="-13422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5097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Seeded job dataset for match ranking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65860" y="7955280"/>
            <a:ext cx="7132320" cy="754380"/>
            <a:chOff x="0" y="0"/>
            <a:chExt cx="950976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09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222" r="0" b="-13422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5097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REST endpoints consumed by the Node backend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244012" y="4169092"/>
            <a:ext cx="8121015" cy="4966335"/>
            <a:chOff x="0" y="0"/>
            <a:chExt cx="10828020" cy="66217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828020" cy="6621780"/>
            </a:xfrm>
            <a:custGeom>
              <a:avLst/>
              <a:gdLst/>
              <a:ahLst/>
              <a:cxnLst/>
              <a:rect r="r" b="b" t="t" l="l"/>
              <a:pathLst>
                <a:path h="6621780" w="1082802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607294" y="0"/>
                  </a:lnTo>
                  <a:cubicBezTo>
                    <a:pt x="10729213" y="0"/>
                    <a:pt x="10828020" y="98806"/>
                    <a:pt x="10828020" y="220726"/>
                  </a:cubicBezTo>
                  <a:lnTo>
                    <a:pt x="10828020" y="6401054"/>
                  </a:lnTo>
                  <a:cubicBezTo>
                    <a:pt x="10828020" y="6522974"/>
                    <a:pt x="10729213" y="6621780"/>
                    <a:pt x="10607294" y="6621780"/>
                  </a:cubicBezTo>
                  <a:lnTo>
                    <a:pt x="220726" y="6621780"/>
                  </a:lnTo>
                  <a:cubicBezTo>
                    <a:pt x="98806" y="6621780"/>
                    <a:pt x="0" y="6522974"/>
                    <a:pt x="0" y="6401054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669780" y="4526280"/>
            <a:ext cx="617220" cy="617220"/>
            <a:chOff x="0" y="0"/>
            <a:chExt cx="822960" cy="822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6656" y="0"/>
                  </a:lnTo>
                  <a:cubicBezTo>
                    <a:pt x="757428" y="0"/>
                    <a:pt x="822960" y="65532"/>
                    <a:pt x="822960" y="146304"/>
                  </a:cubicBezTo>
                  <a:lnTo>
                    <a:pt x="822960" y="676656"/>
                  </a:lnTo>
                  <a:cubicBezTo>
                    <a:pt x="822960" y="757428"/>
                    <a:pt x="757428" y="822960"/>
                    <a:pt x="676656" y="822960"/>
                  </a:cubicBezTo>
                  <a:lnTo>
                    <a:pt x="146304" y="822960"/>
                  </a:lnTo>
                  <a:cubicBezTo>
                    <a:pt x="65532" y="822960"/>
                    <a:pt x="0" y="757428"/>
                    <a:pt x="0" y="676656"/>
                  </a:cubicBezTo>
                  <a:close/>
                </a:path>
              </a:pathLst>
            </a:custGeom>
            <a:solidFill>
              <a:srgbClr val="D98FC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492740" y="4526280"/>
            <a:ext cx="6720840" cy="617220"/>
            <a:chOff x="0" y="0"/>
            <a:chExt cx="8961120" cy="822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961120" cy="822960"/>
            </a:xfrm>
            <a:custGeom>
              <a:avLst/>
              <a:gdLst/>
              <a:ahLst/>
              <a:cxnLst/>
              <a:rect r="r" b="b" t="t" l="l"/>
              <a:pathLst>
                <a:path h="8229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896112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Interview &amp; Feedback Engine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738360" y="5486400"/>
            <a:ext cx="7132320" cy="754380"/>
            <a:chOff x="0" y="0"/>
            <a:chExt cx="9509760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09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222" r="0" b="-13422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5097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getUserMedia + MediaRecorder — in-browser mic/camera capture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738360" y="6309360"/>
            <a:ext cx="7132320" cy="754380"/>
            <a:chOff x="0" y="0"/>
            <a:chExt cx="9509760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509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222" r="0" b="-13422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95097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faster-whisper — speech-to-text transcription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738360" y="7132320"/>
            <a:ext cx="7132320" cy="754380"/>
            <a:chOff x="0" y="0"/>
            <a:chExt cx="950976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509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222" r="0" b="-13422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5097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Groq/Gemini LLM — question generation &amp; feedback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738360" y="7955280"/>
            <a:ext cx="7132320" cy="754380"/>
            <a:chOff x="0" y="0"/>
            <a:chExt cx="9509760" cy="10058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509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222" r="0" b="-13422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5097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MongoDB — sessions, transcripts &amp; scores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 Practice Platform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6275" y="607695"/>
            <a:ext cx="3310890" cy="567690"/>
            <a:chOff x="0" y="0"/>
            <a:chExt cx="4414520" cy="756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4520" cy="756920"/>
            </a:xfrm>
            <a:custGeom>
              <a:avLst/>
              <a:gdLst/>
              <a:ahLst/>
              <a:cxnLst/>
              <a:rect r="r" b="b" t="t" l="l"/>
              <a:pathLst>
                <a:path h="756920" w="44145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036060" y="0"/>
                  </a:lnTo>
                  <a:cubicBezTo>
                    <a:pt x="4245102" y="0"/>
                    <a:pt x="4414520" y="169418"/>
                    <a:pt x="4414520" y="378460"/>
                  </a:cubicBezTo>
                  <a:cubicBezTo>
                    <a:pt x="4414520" y="587502"/>
                    <a:pt x="4245102" y="756920"/>
                    <a:pt x="403606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40" r="0" b="-6364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3291840" cy="548640"/>
            <a:chOff x="0" y="0"/>
            <a:chExt cx="43891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89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1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 · DESIGN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1371600"/>
            <a:ext cx="14401800" cy="1234440"/>
            <a:chOff x="0" y="0"/>
            <a:chExt cx="192024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2024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2674620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(React)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1512" y="3140392"/>
            <a:ext cx="2566035" cy="1194435"/>
            <a:chOff x="0" y="0"/>
            <a:chExt cx="3421380" cy="15925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21380" cy="1592580"/>
            </a:xfrm>
            <a:custGeom>
              <a:avLst/>
              <a:gdLst/>
              <a:ahLst/>
              <a:cxnLst/>
              <a:rect r="r" b="b" t="t" l="l"/>
              <a:pathLst>
                <a:path h="1592580" w="3421380">
                  <a:moveTo>
                    <a:pt x="0" y="224790"/>
                  </a:moveTo>
                  <a:cubicBezTo>
                    <a:pt x="0" y="100711"/>
                    <a:pt x="100711" y="0"/>
                    <a:pt x="224790" y="0"/>
                  </a:cubicBezTo>
                  <a:lnTo>
                    <a:pt x="3196590" y="0"/>
                  </a:lnTo>
                  <a:cubicBezTo>
                    <a:pt x="3320796" y="0"/>
                    <a:pt x="3421380" y="100711"/>
                    <a:pt x="3421380" y="224790"/>
                  </a:cubicBezTo>
                  <a:lnTo>
                    <a:pt x="3421380" y="1367790"/>
                  </a:lnTo>
                  <a:cubicBezTo>
                    <a:pt x="3421380" y="1491996"/>
                    <a:pt x="3320669" y="1592580"/>
                    <a:pt x="3196590" y="1592580"/>
                  </a:cubicBezTo>
                  <a:lnTo>
                    <a:pt x="224790" y="1592580"/>
                  </a:lnTo>
                  <a:cubicBezTo>
                    <a:pt x="100711" y="1592580"/>
                    <a:pt x="0" y="1491869"/>
                    <a:pt x="0" y="1367790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85800" y="3154680"/>
            <a:ext cx="2537460" cy="1165860"/>
            <a:chOff x="0" y="0"/>
            <a:chExt cx="3383280" cy="1554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950" t="0" r="-895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38328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Resume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Upload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223260" y="3154680"/>
            <a:ext cx="342900" cy="1165860"/>
            <a:chOff x="0" y="0"/>
            <a:chExt cx="457200" cy="15544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7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86232" t="0" r="-38623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572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&gt;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551872" y="3140392"/>
            <a:ext cx="2566035" cy="1194435"/>
            <a:chOff x="0" y="0"/>
            <a:chExt cx="3421380" cy="15925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21380" cy="1592580"/>
            </a:xfrm>
            <a:custGeom>
              <a:avLst/>
              <a:gdLst/>
              <a:ahLst/>
              <a:cxnLst/>
              <a:rect r="r" b="b" t="t" l="l"/>
              <a:pathLst>
                <a:path h="1592580" w="3421380">
                  <a:moveTo>
                    <a:pt x="0" y="224790"/>
                  </a:moveTo>
                  <a:cubicBezTo>
                    <a:pt x="0" y="100711"/>
                    <a:pt x="100711" y="0"/>
                    <a:pt x="224790" y="0"/>
                  </a:cubicBezTo>
                  <a:lnTo>
                    <a:pt x="3196590" y="0"/>
                  </a:lnTo>
                  <a:cubicBezTo>
                    <a:pt x="3320796" y="0"/>
                    <a:pt x="3421380" y="100711"/>
                    <a:pt x="3421380" y="224790"/>
                  </a:cubicBezTo>
                  <a:lnTo>
                    <a:pt x="3421380" y="1367790"/>
                  </a:lnTo>
                  <a:cubicBezTo>
                    <a:pt x="3421380" y="1491996"/>
                    <a:pt x="3320669" y="1592580"/>
                    <a:pt x="3196590" y="1592580"/>
                  </a:cubicBezTo>
                  <a:lnTo>
                    <a:pt x="224790" y="1592580"/>
                  </a:lnTo>
                  <a:cubicBezTo>
                    <a:pt x="100711" y="1592580"/>
                    <a:pt x="0" y="1491869"/>
                    <a:pt x="0" y="1367790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566160" y="3154680"/>
            <a:ext cx="2537460" cy="1165860"/>
            <a:chOff x="0" y="0"/>
            <a:chExt cx="3383280" cy="155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950" t="0" r="-895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38328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Match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103620" y="3154680"/>
            <a:ext cx="342900" cy="1165860"/>
            <a:chOff x="0" y="0"/>
            <a:chExt cx="457200" cy="1554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7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86232" t="0" r="-386232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4572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&gt;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432232" y="3140392"/>
            <a:ext cx="2566035" cy="1194435"/>
            <a:chOff x="0" y="0"/>
            <a:chExt cx="3421380" cy="15925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21380" cy="1592580"/>
            </a:xfrm>
            <a:custGeom>
              <a:avLst/>
              <a:gdLst/>
              <a:ahLst/>
              <a:cxnLst/>
              <a:rect r="r" b="b" t="t" l="l"/>
              <a:pathLst>
                <a:path h="1592580" w="3421380">
                  <a:moveTo>
                    <a:pt x="0" y="224790"/>
                  </a:moveTo>
                  <a:cubicBezTo>
                    <a:pt x="0" y="100711"/>
                    <a:pt x="100711" y="0"/>
                    <a:pt x="224790" y="0"/>
                  </a:cubicBezTo>
                  <a:lnTo>
                    <a:pt x="3196590" y="0"/>
                  </a:lnTo>
                  <a:cubicBezTo>
                    <a:pt x="3320796" y="0"/>
                    <a:pt x="3421380" y="100711"/>
                    <a:pt x="3421380" y="224790"/>
                  </a:cubicBezTo>
                  <a:lnTo>
                    <a:pt x="3421380" y="1367790"/>
                  </a:lnTo>
                  <a:cubicBezTo>
                    <a:pt x="3421380" y="1491996"/>
                    <a:pt x="3320669" y="1592580"/>
                    <a:pt x="3196590" y="1592580"/>
                  </a:cubicBezTo>
                  <a:lnTo>
                    <a:pt x="224790" y="1592580"/>
                  </a:lnTo>
                  <a:cubicBezTo>
                    <a:pt x="100711" y="1592580"/>
                    <a:pt x="0" y="1491869"/>
                    <a:pt x="0" y="1367790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446520" y="3154680"/>
            <a:ext cx="2537460" cy="1165860"/>
            <a:chOff x="0" y="0"/>
            <a:chExt cx="3383280" cy="1554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950" t="0" r="-895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38328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Interview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Q&amp;A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983980" y="3154680"/>
            <a:ext cx="342900" cy="1165860"/>
            <a:chOff x="0" y="0"/>
            <a:chExt cx="457200" cy="15544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7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86232" t="0" r="-386232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572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&gt;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12593" y="3140392"/>
            <a:ext cx="2566035" cy="1194435"/>
            <a:chOff x="0" y="0"/>
            <a:chExt cx="3421380" cy="15925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21380" cy="1592580"/>
            </a:xfrm>
            <a:custGeom>
              <a:avLst/>
              <a:gdLst/>
              <a:ahLst/>
              <a:cxnLst/>
              <a:rect r="r" b="b" t="t" l="l"/>
              <a:pathLst>
                <a:path h="1592580" w="3421380">
                  <a:moveTo>
                    <a:pt x="0" y="224790"/>
                  </a:moveTo>
                  <a:cubicBezTo>
                    <a:pt x="0" y="100711"/>
                    <a:pt x="100711" y="0"/>
                    <a:pt x="224790" y="0"/>
                  </a:cubicBezTo>
                  <a:lnTo>
                    <a:pt x="3196590" y="0"/>
                  </a:lnTo>
                  <a:cubicBezTo>
                    <a:pt x="3320796" y="0"/>
                    <a:pt x="3421380" y="100711"/>
                    <a:pt x="3421380" y="224790"/>
                  </a:cubicBezTo>
                  <a:lnTo>
                    <a:pt x="3421380" y="1367790"/>
                  </a:lnTo>
                  <a:cubicBezTo>
                    <a:pt x="3421380" y="1491996"/>
                    <a:pt x="3320669" y="1592580"/>
                    <a:pt x="3196590" y="1592580"/>
                  </a:cubicBezTo>
                  <a:lnTo>
                    <a:pt x="224790" y="1592580"/>
                  </a:lnTo>
                  <a:cubicBezTo>
                    <a:pt x="100711" y="1592580"/>
                    <a:pt x="0" y="1491869"/>
                    <a:pt x="0" y="1367790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326880" y="3154680"/>
            <a:ext cx="2537460" cy="1165860"/>
            <a:chOff x="0" y="0"/>
            <a:chExt cx="3383280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950" t="0" r="-895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38328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Feedback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85800" y="4457700"/>
            <a:ext cx="10972800" cy="411480"/>
            <a:chOff x="0" y="0"/>
            <a:chExt cx="1463040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9A93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↓  REST calls, auth via Node backend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85800" y="5006340"/>
            <a:ext cx="10972800" cy="411480"/>
            <a:chOff x="0" y="0"/>
            <a:chExt cx="146304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D98F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(Node.js + MongoDB)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71512" y="5472112"/>
            <a:ext cx="5309235" cy="1194435"/>
            <a:chOff x="0" y="0"/>
            <a:chExt cx="7078980" cy="15925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078980" cy="1592580"/>
            </a:xfrm>
            <a:custGeom>
              <a:avLst/>
              <a:gdLst/>
              <a:ahLst/>
              <a:cxnLst/>
              <a:rect r="r" b="b" t="t" l="l"/>
              <a:pathLst>
                <a:path h="1592580" w="7078980">
                  <a:moveTo>
                    <a:pt x="0" y="224790"/>
                  </a:moveTo>
                  <a:cubicBezTo>
                    <a:pt x="0" y="100711"/>
                    <a:pt x="100711" y="0"/>
                    <a:pt x="224790" y="0"/>
                  </a:cubicBezTo>
                  <a:lnTo>
                    <a:pt x="6854190" y="0"/>
                  </a:lnTo>
                  <a:cubicBezTo>
                    <a:pt x="6978397" y="0"/>
                    <a:pt x="7078980" y="100711"/>
                    <a:pt x="7078980" y="224790"/>
                  </a:cubicBezTo>
                  <a:lnTo>
                    <a:pt x="7078980" y="1367790"/>
                  </a:lnTo>
                  <a:cubicBezTo>
                    <a:pt x="7078980" y="1491996"/>
                    <a:pt x="6978269" y="1592580"/>
                    <a:pt x="6854190" y="1592580"/>
                  </a:cubicBezTo>
                  <a:lnTo>
                    <a:pt x="224790" y="1592580"/>
                  </a:lnTo>
                  <a:cubicBezTo>
                    <a:pt x="100711" y="1592580"/>
                    <a:pt x="0" y="1491869"/>
                    <a:pt x="0" y="1367790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85800" y="5486400"/>
            <a:ext cx="5280660" cy="1165860"/>
            <a:chOff x="0" y="0"/>
            <a:chExt cx="7040880" cy="15544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0408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55" r="0" b="-3825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704088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 &amp;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966460" y="5486400"/>
            <a:ext cx="617220" cy="1165860"/>
            <a:chOff x="0" y="0"/>
            <a:chExt cx="822960" cy="15544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229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351" t="0" r="-192351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82296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&lt;&gt;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569393" y="5472112"/>
            <a:ext cx="5103495" cy="1194435"/>
            <a:chOff x="0" y="0"/>
            <a:chExt cx="6804660" cy="15925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04660" cy="1592580"/>
            </a:xfrm>
            <a:custGeom>
              <a:avLst/>
              <a:gdLst/>
              <a:ahLst/>
              <a:cxnLst/>
              <a:rect r="r" b="b" t="t" l="l"/>
              <a:pathLst>
                <a:path h="1592580" w="6804660">
                  <a:moveTo>
                    <a:pt x="0" y="224790"/>
                  </a:moveTo>
                  <a:cubicBezTo>
                    <a:pt x="0" y="100711"/>
                    <a:pt x="100711" y="0"/>
                    <a:pt x="224790" y="0"/>
                  </a:cubicBezTo>
                  <a:lnTo>
                    <a:pt x="6579870" y="0"/>
                  </a:lnTo>
                  <a:cubicBezTo>
                    <a:pt x="6704076" y="0"/>
                    <a:pt x="6804660" y="100711"/>
                    <a:pt x="6804660" y="224790"/>
                  </a:cubicBezTo>
                  <a:lnTo>
                    <a:pt x="6804660" y="1367790"/>
                  </a:lnTo>
                  <a:cubicBezTo>
                    <a:pt x="6804660" y="1491996"/>
                    <a:pt x="6703949" y="1592580"/>
                    <a:pt x="6579870" y="1592580"/>
                  </a:cubicBezTo>
                  <a:lnTo>
                    <a:pt x="224790" y="1592580"/>
                  </a:lnTo>
                  <a:cubicBezTo>
                    <a:pt x="100711" y="1592580"/>
                    <a:pt x="0" y="1491869"/>
                    <a:pt x="0" y="1367790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6583680" y="5486400"/>
            <a:ext cx="5074920" cy="1165860"/>
            <a:chOff x="0" y="0"/>
            <a:chExt cx="6766560" cy="15544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7665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817" r="0" b="-3481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76656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MongoDB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Storage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5800" y="6789420"/>
            <a:ext cx="10972800" cy="411480"/>
            <a:chOff x="0" y="0"/>
            <a:chExt cx="146304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9A93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↓  Orchestrates calls to the AI microservice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85800" y="7338060"/>
            <a:ext cx="10972800" cy="411480"/>
            <a:chOff x="0" y="0"/>
            <a:chExt cx="14630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Service (Python / Flask)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71512" y="7803832"/>
            <a:ext cx="3800475" cy="1125855"/>
            <a:chOff x="0" y="0"/>
            <a:chExt cx="5067300" cy="15011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0673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5067300">
                  <a:moveTo>
                    <a:pt x="0" y="225171"/>
                  </a:moveTo>
                  <a:cubicBezTo>
                    <a:pt x="0" y="100838"/>
                    <a:pt x="100838" y="0"/>
                    <a:pt x="225171" y="0"/>
                  </a:cubicBezTo>
                  <a:lnTo>
                    <a:pt x="4842129" y="0"/>
                  </a:lnTo>
                  <a:cubicBezTo>
                    <a:pt x="4966462" y="0"/>
                    <a:pt x="5067300" y="100838"/>
                    <a:pt x="5067300" y="225171"/>
                  </a:cubicBezTo>
                  <a:lnTo>
                    <a:pt x="5067300" y="1275969"/>
                  </a:lnTo>
                  <a:cubicBezTo>
                    <a:pt x="5067300" y="1400302"/>
                    <a:pt x="4966462" y="1501140"/>
                    <a:pt x="4842129" y="1501140"/>
                  </a:cubicBezTo>
                  <a:lnTo>
                    <a:pt x="225171" y="1501140"/>
                  </a:lnTo>
                  <a:cubicBezTo>
                    <a:pt x="100838" y="1501140"/>
                    <a:pt x="0" y="1400302"/>
                    <a:pt x="0" y="1275969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685800" y="7818120"/>
            <a:ext cx="3771900" cy="1097280"/>
            <a:chOff x="0" y="0"/>
            <a:chExt cx="5029200" cy="14630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029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979" r="0" b="-1697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50292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Resume Parser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&amp; Matching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86312" y="7803832"/>
            <a:ext cx="3800475" cy="1125855"/>
            <a:chOff x="0" y="0"/>
            <a:chExt cx="5067300" cy="15011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0673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5067300">
                  <a:moveTo>
                    <a:pt x="0" y="225171"/>
                  </a:moveTo>
                  <a:cubicBezTo>
                    <a:pt x="0" y="100838"/>
                    <a:pt x="100838" y="0"/>
                    <a:pt x="225171" y="0"/>
                  </a:cubicBezTo>
                  <a:lnTo>
                    <a:pt x="4842129" y="0"/>
                  </a:lnTo>
                  <a:cubicBezTo>
                    <a:pt x="4966462" y="0"/>
                    <a:pt x="5067300" y="100838"/>
                    <a:pt x="5067300" y="225171"/>
                  </a:cubicBezTo>
                  <a:lnTo>
                    <a:pt x="5067300" y="1275969"/>
                  </a:lnTo>
                  <a:cubicBezTo>
                    <a:pt x="5067300" y="1400302"/>
                    <a:pt x="4966462" y="1501140"/>
                    <a:pt x="4842129" y="1501140"/>
                  </a:cubicBezTo>
                  <a:lnTo>
                    <a:pt x="225171" y="1501140"/>
                  </a:lnTo>
                  <a:cubicBezTo>
                    <a:pt x="100838" y="1501140"/>
                    <a:pt x="0" y="1400302"/>
                    <a:pt x="0" y="1275969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4800600" y="7818120"/>
            <a:ext cx="3771900" cy="1097280"/>
            <a:chOff x="0" y="0"/>
            <a:chExt cx="5029200" cy="14630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029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979" r="0" b="-16979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50292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 Gen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(Groq/Gemini)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901112" y="7803832"/>
            <a:ext cx="3800475" cy="1125855"/>
            <a:chOff x="0" y="0"/>
            <a:chExt cx="5067300" cy="15011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0673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5067300">
                  <a:moveTo>
                    <a:pt x="0" y="225171"/>
                  </a:moveTo>
                  <a:cubicBezTo>
                    <a:pt x="0" y="100838"/>
                    <a:pt x="100838" y="0"/>
                    <a:pt x="225171" y="0"/>
                  </a:cubicBezTo>
                  <a:lnTo>
                    <a:pt x="4842129" y="0"/>
                  </a:lnTo>
                  <a:cubicBezTo>
                    <a:pt x="4966462" y="0"/>
                    <a:pt x="5067300" y="100838"/>
                    <a:pt x="5067300" y="225171"/>
                  </a:cubicBezTo>
                  <a:lnTo>
                    <a:pt x="5067300" y="1275969"/>
                  </a:lnTo>
                  <a:cubicBezTo>
                    <a:pt x="5067300" y="1400302"/>
                    <a:pt x="4966462" y="1501140"/>
                    <a:pt x="4842129" y="1501140"/>
                  </a:cubicBezTo>
                  <a:lnTo>
                    <a:pt x="225171" y="1501140"/>
                  </a:lnTo>
                  <a:cubicBezTo>
                    <a:pt x="100838" y="1501140"/>
                    <a:pt x="0" y="1400302"/>
                    <a:pt x="0" y="1275969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8915400" y="7818120"/>
            <a:ext cx="3771900" cy="1097280"/>
            <a:chOff x="0" y="0"/>
            <a:chExt cx="5029200" cy="14630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029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979" r="0" b="-1697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50292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Transcription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(Whisper)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810172" y="2660333"/>
            <a:ext cx="4829175" cy="6269355"/>
            <a:chOff x="0" y="0"/>
            <a:chExt cx="6438900" cy="83591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438900" cy="8359140"/>
            </a:xfrm>
            <a:custGeom>
              <a:avLst/>
              <a:gdLst/>
              <a:ahLst/>
              <a:cxnLst/>
              <a:rect r="r" b="b" t="t" l="l"/>
              <a:pathLst>
                <a:path h="8359140" w="6438900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6218047" y="0"/>
                  </a:lnTo>
                  <a:cubicBezTo>
                    <a:pt x="6340094" y="0"/>
                    <a:pt x="6438900" y="98806"/>
                    <a:pt x="6438900" y="220853"/>
                  </a:cubicBezTo>
                  <a:lnTo>
                    <a:pt x="6438900" y="8138287"/>
                  </a:lnTo>
                  <a:cubicBezTo>
                    <a:pt x="6438900" y="8260207"/>
                    <a:pt x="6340094" y="8359140"/>
                    <a:pt x="6218047" y="8359140"/>
                  </a:cubicBezTo>
                  <a:lnTo>
                    <a:pt x="220853" y="8359140"/>
                  </a:lnTo>
                  <a:cubicBezTo>
                    <a:pt x="98806" y="8359140"/>
                    <a:pt x="0" y="8260334"/>
                    <a:pt x="0" y="8138287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6E5FA0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3167360" y="2948940"/>
            <a:ext cx="4114800" cy="480060"/>
            <a:chOff x="0" y="0"/>
            <a:chExt cx="5486400" cy="6400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486400" cy="640080"/>
            </a:xfrm>
            <a:custGeom>
              <a:avLst/>
              <a:gdLst/>
              <a:ahLst/>
              <a:cxnLst/>
              <a:rect r="r" b="b" t="t" l="l"/>
              <a:pathLst>
                <a:path h="64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5486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Notes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167360" y="3566160"/>
            <a:ext cx="4114800" cy="1234440"/>
            <a:chOff x="0" y="0"/>
            <a:chExt cx="5486400" cy="16459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548640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Node and Python are separate services talking over REST — AI logic stays isolated and swappable.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167360" y="4869180"/>
            <a:ext cx="4114800" cy="1234440"/>
            <a:chOff x="0" y="0"/>
            <a:chExt cx="5486400" cy="16459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548640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All AI components run on free-tier / open-source tools: Groq, faster-whisper, sentence-transformers.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3167360" y="6172200"/>
            <a:ext cx="4114800" cy="1234440"/>
            <a:chOff x="0" y="0"/>
            <a:chExt cx="5486400" cy="16459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548640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MongoDB's flexible schema suits variable-length transcripts and evolving question sets.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3167360" y="7475220"/>
            <a:ext cx="4114800" cy="1234440"/>
            <a:chOff x="0" y="0"/>
            <a:chExt cx="5486400" cy="16459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548640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Stack: React.js, Node.js + Express, Python (Flask), spaCy, sentence-transformers, faster-whisper, Groq/Gemini API, MongoDB Atlas, Git/GitHub.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 Practice Platform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6275" y="607695"/>
            <a:ext cx="3310890" cy="567690"/>
            <a:chOff x="0" y="0"/>
            <a:chExt cx="4414520" cy="756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4520" cy="756920"/>
            </a:xfrm>
            <a:custGeom>
              <a:avLst/>
              <a:gdLst/>
              <a:ahLst/>
              <a:cxnLst/>
              <a:rect r="r" b="b" t="t" l="l"/>
              <a:pathLst>
                <a:path h="756920" w="44145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036060" y="0"/>
                  </a:lnTo>
                  <a:cubicBezTo>
                    <a:pt x="4245102" y="0"/>
                    <a:pt x="4414520" y="169418"/>
                    <a:pt x="4414520" y="378460"/>
                  </a:cubicBezTo>
                  <a:cubicBezTo>
                    <a:pt x="4414520" y="587502"/>
                    <a:pt x="4245102" y="756920"/>
                    <a:pt x="403606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40" r="0" b="-6364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3291840" cy="548640"/>
            <a:chOff x="0" y="0"/>
            <a:chExt cx="43891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89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1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 · CAPABILITIES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1371600"/>
            <a:ext cx="14401800" cy="1234440"/>
            <a:chOff x="0" y="0"/>
            <a:chExt cx="192024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2024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Modules / Functionalities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1512" y="2797492"/>
            <a:ext cx="5446395" cy="2566035"/>
            <a:chOff x="0" y="0"/>
            <a:chExt cx="7261860" cy="34213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61860" cy="3421380"/>
            </a:xfrm>
            <a:custGeom>
              <a:avLst/>
              <a:gdLst/>
              <a:ahLst/>
              <a:cxnLst/>
              <a:rect r="r" b="b" t="t" l="l"/>
              <a:pathLst>
                <a:path h="3421380" w="726186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7039991" y="0"/>
                  </a:lnTo>
                  <a:cubicBezTo>
                    <a:pt x="7162547" y="0"/>
                    <a:pt x="7261860" y="99314"/>
                    <a:pt x="7261860" y="221869"/>
                  </a:cubicBezTo>
                  <a:lnTo>
                    <a:pt x="7261860" y="3199511"/>
                  </a:lnTo>
                  <a:cubicBezTo>
                    <a:pt x="7261860" y="3322066"/>
                    <a:pt x="7162547" y="3421380"/>
                    <a:pt x="7039991" y="3421380"/>
                  </a:cubicBezTo>
                  <a:lnTo>
                    <a:pt x="221869" y="3421380"/>
                  </a:lnTo>
                  <a:cubicBezTo>
                    <a:pt x="99314" y="3421380"/>
                    <a:pt x="0" y="3322066"/>
                    <a:pt x="0" y="3199511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14412" y="3099244"/>
            <a:ext cx="714375" cy="714375"/>
            <a:chOff x="0" y="0"/>
            <a:chExt cx="952500" cy="952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28700" y="3113532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3977640"/>
            <a:ext cx="4732020" cy="548640"/>
            <a:chOff x="0" y="0"/>
            <a:chExt cx="630936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Resume Upload &amp; Parsing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4485132"/>
            <a:ext cx="4732020" cy="754380"/>
            <a:chOff x="0" y="0"/>
            <a:chExt cx="630936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09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224" r="0" b="-7222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3093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Extracts skills and experience from resume text using NLP-based parsing.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432232" y="2797492"/>
            <a:ext cx="5446395" cy="2566035"/>
            <a:chOff x="0" y="0"/>
            <a:chExt cx="7261860" cy="34213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61860" cy="3421380"/>
            </a:xfrm>
            <a:custGeom>
              <a:avLst/>
              <a:gdLst/>
              <a:ahLst/>
              <a:cxnLst/>
              <a:rect r="r" b="b" t="t" l="l"/>
              <a:pathLst>
                <a:path h="3421380" w="726186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7039991" y="0"/>
                  </a:lnTo>
                  <a:cubicBezTo>
                    <a:pt x="7162547" y="0"/>
                    <a:pt x="7261860" y="99314"/>
                    <a:pt x="7261860" y="221869"/>
                  </a:cubicBezTo>
                  <a:lnTo>
                    <a:pt x="7261860" y="3199511"/>
                  </a:lnTo>
                  <a:cubicBezTo>
                    <a:pt x="7261860" y="3322066"/>
                    <a:pt x="7162547" y="3421380"/>
                    <a:pt x="7039991" y="3421380"/>
                  </a:cubicBezTo>
                  <a:lnTo>
                    <a:pt x="221869" y="3421380"/>
                  </a:lnTo>
                  <a:cubicBezTo>
                    <a:pt x="99314" y="3421380"/>
                    <a:pt x="0" y="3322066"/>
                    <a:pt x="0" y="3199511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775132" y="3099244"/>
            <a:ext cx="714375" cy="714375"/>
            <a:chOff x="0" y="0"/>
            <a:chExt cx="952500" cy="952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789420" y="3113532"/>
            <a:ext cx="685800" cy="685800"/>
            <a:chOff x="0" y="0"/>
            <a:chExt cx="914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D98F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789420" y="3977640"/>
            <a:ext cx="4732020" cy="548640"/>
            <a:chOff x="0" y="0"/>
            <a:chExt cx="630936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Matching Engine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89420" y="4485132"/>
            <a:ext cx="4732020" cy="754380"/>
            <a:chOff x="0" y="0"/>
            <a:chExt cx="630936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09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224" r="0" b="-7222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3093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Scores candidate-job fit using embedding-based similarity against a job dataset.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192952" y="2797492"/>
            <a:ext cx="5446395" cy="2566035"/>
            <a:chOff x="0" y="0"/>
            <a:chExt cx="7261860" cy="34213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61860" cy="3421380"/>
            </a:xfrm>
            <a:custGeom>
              <a:avLst/>
              <a:gdLst/>
              <a:ahLst/>
              <a:cxnLst/>
              <a:rect r="r" b="b" t="t" l="l"/>
              <a:pathLst>
                <a:path h="3421380" w="726186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7039991" y="0"/>
                  </a:lnTo>
                  <a:cubicBezTo>
                    <a:pt x="7162547" y="0"/>
                    <a:pt x="7261860" y="99314"/>
                    <a:pt x="7261860" y="221869"/>
                  </a:cubicBezTo>
                  <a:lnTo>
                    <a:pt x="7261860" y="3199511"/>
                  </a:lnTo>
                  <a:cubicBezTo>
                    <a:pt x="7261860" y="3322066"/>
                    <a:pt x="7162547" y="3421380"/>
                    <a:pt x="7039991" y="3421380"/>
                  </a:cubicBezTo>
                  <a:lnTo>
                    <a:pt x="221869" y="3421380"/>
                  </a:lnTo>
                  <a:cubicBezTo>
                    <a:pt x="99314" y="3421380"/>
                    <a:pt x="0" y="3322066"/>
                    <a:pt x="0" y="3199511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535852" y="3099244"/>
            <a:ext cx="714375" cy="714375"/>
            <a:chOff x="0" y="0"/>
            <a:chExt cx="952500" cy="952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550140" y="3113532"/>
            <a:ext cx="685800" cy="685800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550140" y="3977640"/>
            <a:ext cx="4732020" cy="548640"/>
            <a:chOff x="0" y="0"/>
            <a:chExt cx="630936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Question Generation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550140" y="4485132"/>
            <a:ext cx="4732020" cy="754380"/>
            <a:chOff x="0" y="0"/>
            <a:chExt cx="6309360" cy="1005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309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224" r="0" b="-7222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63093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Generates role-specific mock interview questions from the matched job and resume gaps.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71512" y="5677853"/>
            <a:ext cx="5446395" cy="2566035"/>
            <a:chOff x="0" y="0"/>
            <a:chExt cx="7261860" cy="34213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261860" cy="3421380"/>
            </a:xfrm>
            <a:custGeom>
              <a:avLst/>
              <a:gdLst/>
              <a:ahLst/>
              <a:cxnLst/>
              <a:rect r="r" b="b" t="t" l="l"/>
              <a:pathLst>
                <a:path h="3421380" w="726186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7039991" y="0"/>
                  </a:lnTo>
                  <a:cubicBezTo>
                    <a:pt x="7162547" y="0"/>
                    <a:pt x="7261860" y="99314"/>
                    <a:pt x="7261860" y="221869"/>
                  </a:cubicBezTo>
                  <a:lnTo>
                    <a:pt x="7261860" y="3199511"/>
                  </a:lnTo>
                  <a:cubicBezTo>
                    <a:pt x="7261860" y="3322066"/>
                    <a:pt x="7162547" y="3421380"/>
                    <a:pt x="7039991" y="3421380"/>
                  </a:cubicBezTo>
                  <a:lnTo>
                    <a:pt x="221869" y="3421380"/>
                  </a:lnTo>
                  <a:cubicBezTo>
                    <a:pt x="99314" y="3421380"/>
                    <a:pt x="0" y="3322066"/>
                    <a:pt x="0" y="3199511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14412" y="5979604"/>
            <a:ext cx="714375" cy="714375"/>
            <a:chOff x="0" y="0"/>
            <a:chExt cx="952500" cy="9525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028700" y="5993892"/>
            <a:ext cx="685800" cy="685800"/>
            <a:chOff x="0" y="0"/>
            <a:chExt cx="9144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28700" y="6858000"/>
            <a:ext cx="4732020" cy="548640"/>
            <a:chOff x="0" y="0"/>
            <a:chExt cx="630936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Answer Capture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28700" y="7365492"/>
            <a:ext cx="4732020" cy="754380"/>
            <a:chOff x="0" y="0"/>
            <a:chExt cx="6309360" cy="10058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309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224" r="0" b="-7222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63093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In-browser mic and camera recording — no plugins or external apps required.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432232" y="5677853"/>
            <a:ext cx="5446395" cy="2566035"/>
            <a:chOff x="0" y="0"/>
            <a:chExt cx="7261860" cy="34213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261860" cy="3421380"/>
            </a:xfrm>
            <a:custGeom>
              <a:avLst/>
              <a:gdLst/>
              <a:ahLst/>
              <a:cxnLst/>
              <a:rect r="r" b="b" t="t" l="l"/>
              <a:pathLst>
                <a:path h="3421380" w="726186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7039991" y="0"/>
                  </a:lnTo>
                  <a:cubicBezTo>
                    <a:pt x="7162547" y="0"/>
                    <a:pt x="7261860" y="99314"/>
                    <a:pt x="7261860" y="221869"/>
                  </a:cubicBezTo>
                  <a:lnTo>
                    <a:pt x="7261860" y="3199511"/>
                  </a:lnTo>
                  <a:cubicBezTo>
                    <a:pt x="7261860" y="3322066"/>
                    <a:pt x="7162547" y="3421380"/>
                    <a:pt x="7039991" y="3421380"/>
                  </a:cubicBezTo>
                  <a:lnTo>
                    <a:pt x="221869" y="3421380"/>
                  </a:lnTo>
                  <a:cubicBezTo>
                    <a:pt x="99314" y="3421380"/>
                    <a:pt x="0" y="3322066"/>
                    <a:pt x="0" y="3199511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6775132" y="5979604"/>
            <a:ext cx="714375" cy="714375"/>
            <a:chOff x="0" y="0"/>
            <a:chExt cx="952500" cy="9525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6789420" y="5993892"/>
            <a:ext cx="685800" cy="685800"/>
            <a:chOff x="0" y="0"/>
            <a:chExt cx="914400" cy="914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D98F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789420" y="6858000"/>
            <a:ext cx="4732020" cy="548640"/>
            <a:chOff x="0" y="0"/>
            <a:chExt cx="630936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Speech-to-Text &amp; Analysis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789420" y="7365492"/>
            <a:ext cx="4732020" cy="754380"/>
            <a:chOff x="0" y="0"/>
            <a:chExt cx="6309360" cy="10058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309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224" r="0" b="-7222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63093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Transcribes spoken answers and surfaces pacing and filler-word signals.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192952" y="5677853"/>
            <a:ext cx="5446395" cy="2566035"/>
            <a:chOff x="0" y="0"/>
            <a:chExt cx="7261860" cy="34213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261860" cy="3421380"/>
            </a:xfrm>
            <a:custGeom>
              <a:avLst/>
              <a:gdLst/>
              <a:ahLst/>
              <a:cxnLst/>
              <a:rect r="r" b="b" t="t" l="l"/>
              <a:pathLst>
                <a:path h="3421380" w="726186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7039991" y="0"/>
                  </a:lnTo>
                  <a:cubicBezTo>
                    <a:pt x="7162547" y="0"/>
                    <a:pt x="7261860" y="99314"/>
                    <a:pt x="7261860" y="221869"/>
                  </a:cubicBezTo>
                  <a:lnTo>
                    <a:pt x="7261860" y="3199511"/>
                  </a:lnTo>
                  <a:cubicBezTo>
                    <a:pt x="7261860" y="3322066"/>
                    <a:pt x="7162547" y="3421380"/>
                    <a:pt x="7039991" y="3421380"/>
                  </a:cubicBezTo>
                  <a:lnTo>
                    <a:pt x="221869" y="3421380"/>
                  </a:lnTo>
                  <a:cubicBezTo>
                    <a:pt x="99314" y="3421380"/>
                    <a:pt x="0" y="3322066"/>
                    <a:pt x="0" y="3199511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2535852" y="5979604"/>
            <a:ext cx="714375" cy="714375"/>
            <a:chOff x="0" y="0"/>
            <a:chExt cx="952500" cy="9525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2550140" y="5993892"/>
            <a:ext cx="685800" cy="685800"/>
            <a:chOff x="0" y="0"/>
            <a:chExt cx="914400" cy="914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550140" y="6858000"/>
            <a:ext cx="4732020" cy="548640"/>
            <a:chOff x="0" y="0"/>
            <a:chExt cx="630936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Feedback &amp; Scoring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550140" y="7365492"/>
            <a:ext cx="4732020" cy="754380"/>
            <a:chOff x="0" y="0"/>
            <a:chExt cx="6309360" cy="10058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309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224" r="0" b="-7222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63093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LLM-based feedback on content and delivery, stored per session for progress tracking.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 Practice Platform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6275" y="607695"/>
            <a:ext cx="3310890" cy="567690"/>
            <a:chOff x="0" y="0"/>
            <a:chExt cx="4414520" cy="756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4520" cy="756920"/>
            </a:xfrm>
            <a:custGeom>
              <a:avLst/>
              <a:gdLst/>
              <a:ahLst/>
              <a:cxnLst/>
              <a:rect r="r" b="b" t="t" l="l"/>
              <a:pathLst>
                <a:path h="756920" w="44145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036060" y="0"/>
                  </a:lnTo>
                  <a:cubicBezTo>
                    <a:pt x="4245102" y="0"/>
                    <a:pt x="4414520" y="169418"/>
                    <a:pt x="4414520" y="378460"/>
                  </a:cubicBezTo>
                  <a:cubicBezTo>
                    <a:pt x="4414520" y="587502"/>
                    <a:pt x="4245102" y="756920"/>
                    <a:pt x="403606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40" r="0" b="-6364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3291840" cy="548640"/>
            <a:chOff x="0" y="0"/>
            <a:chExt cx="43891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89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1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 · FRONTEND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1371600"/>
            <a:ext cx="14401800" cy="1234440"/>
            <a:chOff x="0" y="0"/>
            <a:chExt cx="192024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2024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Design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2743200"/>
            <a:ext cx="15773400" cy="548640"/>
            <a:chOff x="0" y="0"/>
            <a:chExt cx="210312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screens in the candidate-facing React application.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9003" y="4066222"/>
            <a:ext cx="4198725" cy="2943225"/>
            <a:chOff x="0" y="0"/>
            <a:chExt cx="5598300" cy="3924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98287" cy="3924300"/>
            </a:xfrm>
            <a:custGeom>
              <a:avLst/>
              <a:gdLst/>
              <a:ahLst/>
              <a:cxnLst/>
              <a:rect r="r" b="b" t="t" l="l"/>
              <a:pathLst>
                <a:path h="3924300" w="5598287">
                  <a:moveTo>
                    <a:pt x="0" y="313944"/>
                  </a:moveTo>
                  <a:cubicBezTo>
                    <a:pt x="0" y="140589"/>
                    <a:pt x="140589" y="0"/>
                    <a:pt x="313944" y="0"/>
                  </a:cubicBezTo>
                  <a:lnTo>
                    <a:pt x="5284343" y="0"/>
                  </a:lnTo>
                  <a:cubicBezTo>
                    <a:pt x="5457698" y="0"/>
                    <a:pt x="5598287" y="140589"/>
                    <a:pt x="5598287" y="313944"/>
                  </a:cubicBezTo>
                  <a:lnTo>
                    <a:pt x="5598287" y="3610356"/>
                  </a:lnTo>
                  <a:cubicBezTo>
                    <a:pt x="5598287" y="3783711"/>
                    <a:pt x="5457698" y="3924300"/>
                    <a:pt x="5284343" y="3924300"/>
                  </a:cubicBezTo>
                  <a:lnTo>
                    <a:pt x="313944" y="3924300"/>
                  </a:lnTo>
                  <a:cubicBezTo>
                    <a:pt x="140589" y="3924300"/>
                    <a:pt x="0" y="3783711"/>
                    <a:pt x="0" y="3610356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94166" y="4286250"/>
            <a:ext cx="3594954" cy="680085"/>
            <a:chOff x="0" y="0"/>
            <a:chExt cx="4793272" cy="9067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93270" cy="906780"/>
            </a:xfrm>
            <a:custGeom>
              <a:avLst/>
              <a:gdLst/>
              <a:ahLst/>
              <a:cxnLst/>
              <a:rect r="r" b="b" t="t" l="l"/>
              <a:pathLst>
                <a:path h="906780" w="4793270">
                  <a:moveTo>
                    <a:pt x="0" y="0"/>
                  </a:moveTo>
                  <a:lnTo>
                    <a:pt x="4793270" y="0"/>
                  </a:lnTo>
                  <a:lnTo>
                    <a:pt x="4793270" y="906780"/>
                  </a:lnTo>
                  <a:lnTo>
                    <a:pt x="0" y="9067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998" r="0" b="-5299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793272" cy="954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Home Page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94166" y="4766310"/>
            <a:ext cx="3594954" cy="1748790"/>
            <a:chOff x="0" y="0"/>
            <a:chExt cx="4793272" cy="2331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93270" cy="2331722"/>
            </a:xfrm>
            <a:custGeom>
              <a:avLst/>
              <a:gdLst/>
              <a:ahLst/>
              <a:cxnLst/>
              <a:rect r="r" b="b" t="t" l="l"/>
              <a:pathLst>
                <a:path h="2331722" w="4793270">
                  <a:moveTo>
                    <a:pt x="0" y="0"/>
                  </a:moveTo>
                  <a:lnTo>
                    <a:pt x="4793270" y="0"/>
                  </a:lnTo>
                  <a:lnTo>
                    <a:pt x="4793270" y="2331722"/>
                  </a:lnTo>
                  <a:lnTo>
                    <a:pt x="0" y="23317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414" t="0" r="-12414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793272" cy="2379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Landing page introducing the platform and entry point to upload a resume.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840691" y="4066222"/>
            <a:ext cx="4198725" cy="2943225"/>
            <a:chOff x="0" y="0"/>
            <a:chExt cx="5598300" cy="3924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98287" cy="3924300"/>
            </a:xfrm>
            <a:custGeom>
              <a:avLst/>
              <a:gdLst/>
              <a:ahLst/>
              <a:cxnLst/>
              <a:rect r="r" b="b" t="t" l="l"/>
              <a:pathLst>
                <a:path h="3924300" w="5598287">
                  <a:moveTo>
                    <a:pt x="0" y="313944"/>
                  </a:moveTo>
                  <a:cubicBezTo>
                    <a:pt x="0" y="140589"/>
                    <a:pt x="140589" y="0"/>
                    <a:pt x="313944" y="0"/>
                  </a:cubicBezTo>
                  <a:lnTo>
                    <a:pt x="5284343" y="0"/>
                  </a:lnTo>
                  <a:cubicBezTo>
                    <a:pt x="5457698" y="0"/>
                    <a:pt x="5598287" y="140589"/>
                    <a:pt x="5598287" y="313944"/>
                  </a:cubicBezTo>
                  <a:lnTo>
                    <a:pt x="5598287" y="3610356"/>
                  </a:lnTo>
                  <a:cubicBezTo>
                    <a:pt x="5598287" y="3783711"/>
                    <a:pt x="5457698" y="3924300"/>
                    <a:pt x="5284343" y="3924300"/>
                  </a:cubicBezTo>
                  <a:lnTo>
                    <a:pt x="313944" y="3924300"/>
                  </a:lnTo>
                  <a:cubicBezTo>
                    <a:pt x="140589" y="3924300"/>
                    <a:pt x="0" y="3783711"/>
                    <a:pt x="0" y="3610356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155854" y="4286250"/>
            <a:ext cx="3594954" cy="680085"/>
            <a:chOff x="0" y="0"/>
            <a:chExt cx="4793272" cy="9067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93270" cy="906780"/>
            </a:xfrm>
            <a:custGeom>
              <a:avLst/>
              <a:gdLst/>
              <a:ahLst/>
              <a:cxnLst/>
              <a:rect r="r" b="b" t="t" l="l"/>
              <a:pathLst>
                <a:path h="906780" w="4793270">
                  <a:moveTo>
                    <a:pt x="0" y="0"/>
                  </a:moveTo>
                  <a:lnTo>
                    <a:pt x="4793270" y="0"/>
                  </a:lnTo>
                  <a:lnTo>
                    <a:pt x="4793270" y="906780"/>
                  </a:lnTo>
                  <a:lnTo>
                    <a:pt x="0" y="9067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998" r="0" b="-5299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793272" cy="954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Login / Registration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155854" y="4766310"/>
            <a:ext cx="3594954" cy="1748790"/>
            <a:chOff x="0" y="0"/>
            <a:chExt cx="4793272" cy="2331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93270" cy="2331722"/>
            </a:xfrm>
            <a:custGeom>
              <a:avLst/>
              <a:gdLst/>
              <a:ahLst/>
              <a:cxnLst/>
              <a:rect r="r" b="b" t="t" l="l"/>
              <a:pathLst>
                <a:path h="2331722" w="4793270">
                  <a:moveTo>
                    <a:pt x="0" y="0"/>
                  </a:moveTo>
                  <a:lnTo>
                    <a:pt x="4793270" y="0"/>
                  </a:lnTo>
                  <a:lnTo>
                    <a:pt x="4793270" y="2331722"/>
                  </a:lnTo>
                  <a:lnTo>
                    <a:pt x="0" y="23317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414" t="0" r="-1241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4793272" cy="2379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Candidate authentication — sign up, log in, and session handling.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202379" y="4066222"/>
            <a:ext cx="4198725" cy="2943225"/>
            <a:chOff x="0" y="0"/>
            <a:chExt cx="5598300" cy="39243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98287" cy="3924300"/>
            </a:xfrm>
            <a:custGeom>
              <a:avLst/>
              <a:gdLst/>
              <a:ahLst/>
              <a:cxnLst/>
              <a:rect r="r" b="b" t="t" l="l"/>
              <a:pathLst>
                <a:path h="3924300" w="5598287">
                  <a:moveTo>
                    <a:pt x="0" y="313944"/>
                  </a:moveTo>
                  <a:cubicBezTo>
                    <a:pt x="0" y="140589"/>
                    <a:pt x="140589" y="0"/>
                    <a:pt x="313944" y="0"/>
                  </a:cubicBezTo>
                  <a:lnTo>
                    <a:pt x="5284343" y="0"/>
                  </a:lnTo>
                  <a:cubicBezTo>
                    <a:pt x="5457698" y="0"/>
                    <a:pt x="5598287" y="140589"/>
                    <a:pt x="5598287" y="313944"/>
                  </a:cubicBezTo>
                  <a:lnTo>
                    <a:pt x="5598287" y="3610356"/>
                  </a:lnTo>
                  <a:cubicBezTo>
                    <a:pt x="5598287" y="3783711"/>
                    <a:pt x="5457698" y="3924300"/>
                    <a:pt x="5284343" y="3924300"/>
                  </a:cubicBezTo>
                  <a:lnTo>
                    <a:pt x="313944" y="3924300"/>
                  </a:lnTo>
                  <a:cubicBezTo>
                    <a:pt x="140589" y="3924300"/>
                    <a:pt x="0" y="3783711"/>
                    <a:pt x="0" y="3610356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517542" y="4286250"/>
            <a:ext cx="3594954" cy="680085"/>
            <a:chOff x="0" y="0"/>
            <a:chExt cx="4793272" cy="9067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93270" cy="906780"/>
            </a:xfrm>
            <a:custGeom>
              <a:avLst/>
              <a:gdLst/>
              <a:ahLst/>
              <a:cxnLst/>
              <a:rect r="r" b="b" t="t" l="l"/>
              <a:pathLst>
                <a:path h="906780" w="4793270">
                  <a:moveTo>
                    <a:pt x="0" y="0"/>
                  </a:moveTo>
                  <a:lnTo>
                    <a:pt x="4793270" y="0"/>
                  </a:lnTo>
                  <a:lnTo>
                    <a:pt x="4793270" y="906780"/>
                  </a:lnTo>
                  <a:lnTo>
                    <a:pt x="0" y="9067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998" r="0" b="-5299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793272" cy="954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17542" y="4766310"/>
            <a:ext cx="3594954" cy="1748790"/>
            <a:chOff x="0" y="0"/>
            <a:chExt cx="4793272" cy="2331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93270" cy="2331722"/>
            </a:xfrm>
            <a:custGeom>
              <a:avLst/>
              <a:gdLst/>
              <a:ahLst/>
              <a:cxnLst/>
              <a:rect r="r" b="b" t="t" l="l"/>
              <a:pathLst>
                <a:path h="2331722" w="4793270">
                  <a:moveTo>
                    <a:pt x="0" y="0"/>
                  </a:moveTo>
                  <a:lnTo>
                    <a:pt x="4793270" y="0"/>
                  </a:lnTo>
                  <a:lnTo>
                    <a:pt x="4793270" y="2331722"/>
                  </a:lnTo>
                  <a:lnTo>
                    <a:pt x="0" y="23317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414" t="0" r="-12414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793272" cy="2379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Resume upload and job-preference forms feeding the matching engine.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564067" y="4066222"/>
            <a:ext cx="4198725" cy="2943225"/>
            <a:chOff x="0" y="0"/>
            <a:chExt cx="5598300" cy="39243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598287" cy="3924300"/>
            </a:xfrm>
            <a:custGeom>
              <a:avLst/>
              <a:gdLst/>
              <a:ahLst/>
              <a:cxnLst/>
              <a:rect r="r" b="b" t="t" l="l"/>
              <a:pathLst>
                <a:path h="3924300" w="5598287">
                  <a:moveTo>
                    <a:pt x="0" y="313944"/>
                  </a:moveTo>
                  <a:cubicBezTo>
                    <a:pt x="0" y="140589"/>
                    <a:pt x="140589" y="0"/>
                    <a:pt x="313944" y="0"/>
                  </a:cubicBezTo>
                  <a:lnTo>
                    <a:pt x="5284343" y="0"/>
                  </a:lnTo>
                  <a:cubicBezTo>
                    <a:pt x="5457698" y="0"/>
                    <a:pt x="5598287" y="140589"/>
                    <a:pt x="5598287" y="313944"/>
                  </a:cubicBezTo>
                  <a:lnTo>
                    <a:pt x="5598287" y="3610356"/>
                  </a:lnTo>
                  <a:cubicBezTo>
                    <a:pt x="5598287" y="3783711"/>
                    <a:pt x="5457698" y="3924300"/>
                    <a:pt x="5284343" y="3924300"/>
                  </a:cubicBezTo>
                  <a:lnTo>
                    <a:pt x="313944" y="3924300"/>
                  </a:lnTo>
                  <a:cubicBezTo>
                    <a:pt x="140589" y="3924300"/>
                    <a:pt x="0" y="3783711"/>
                    <a:pt x="0" y="3610356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879230" y="4286250"/>
            <a:ext cx="3594954" cy="680085"/>
            <a:chOff x="0" y="0"/>
            <a:chExt cx="4793272" cy="9067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793270" cy="906780"/>
            </a:xfrm>
            <a:custGeom>
              <a:avLst/>
              <a:gdLst/>
              <a:ahLst/>
              <a:cxnLst/>
              <a:rect r="r" b="b" t="t" l="l"/>
              <a:pathLst>
                <a:path h="906780" w="4793270">
                  <a:moveTo>
                    <a:pt x="0" y="0"/>
                  </a:moveTo>
                  <a:lnTo>
                    <a:pt x="4793270" y="0"/>
                  </a:lnTo>
                  <a:lnTo>
                    <a:pt x="4793270" y="906780"/>
                  </a:lnTo>
                  <a:lnTo>
                    <a:pt x="0" y="9067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998" r="0" b="-5299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4793272" cy="954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879230" y="4766310"/>
            <a:ext cx="3594954" cy="1748790"/>
            <a:chOff x="0" y="0"/>
            <a:chExt cx="4793272" cy="2331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793270" cy="2331722"/>
            </a:xfrm>
            <a:custGeom>
              <a:avLst/>
              <a:gdLst/>
              <a:ahLst/>
              <a:cxnLst/>
              <a:rect r="r" b="b" t="t" l="l"/>
              <a:pathLst>
                <a:path h="2331722" w="4793270">
                  <a:moveTo>
                    <a:pt x="0" y="0"/>
                  </a:moveTo>
                  <a:lnTo>
                    <a:pt x="4793270" y="0"/>
                  </a:lnTo>
                  <a:lnTo>
                    <a:pt x="4793270" y="2331722"/>
                  </a:lnTo>
                  <a:lnTo>
                    <a:pt x="0" y="23317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414" t="0" r="-12414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4793272" cy="2379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Match results, mock interview access and feedback history in one place.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 Practice Platform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6275" y="607695"/>
            <a:ext cx="3310890" cy="567690"/>
            <a:chOff x="0" y="0"/>
            <a:chExt cx="4414520" cy="756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4520" cy="756920"/>
            </a:xfrm>
            <a:custGeom>
              <a:avLst/>
              <a:gdLst/>
              <a:ahLst/>
              <a:cxnLst/>
              <a:rect r="r" b="b" t="t" l="l"/>
              <a:pathLst>
                <a:path h="756920" w="44145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036060" y="0"/>
                  </a:lnTo>
                  <a:cubicBezTo>
                    <a:pt x="4245102" y="0"/>
                    <a:pt x="4414520" y="169418"/>
                    <a:pt x="4414520" y="378460"/>
                  </a:cubicBezTo>
                  <a:cubicBezTo>
                    <a:pt x="4414520" y="587502"/>
                    <a:pt x="4245102" y="756920"/>
                    <a:pt x="403606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40" r="0" b="-6364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3291840" cy="548640"/>
            <a:chOff x="0" y="0"/>
            <a:chExt cx="43891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89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1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 · FRONTEND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1371600"/>
            <a:ext cx="14401800" cy="1234440"/>
            <a:chOff x="0" y="0"/>
            <a:chExt cx="192024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2024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Implementation — Screenshots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 Practice Platform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5800" y="2953017"/>
            <a:ext cx="4988176" cy="6192222"/>
            <a:chOff x="0" y="0"/>
            <a:chExt cx="6650901" cy="82562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50863" cy="8256270"/>
            </a:xfrm>
            <a:custGeom>
              <a:avLst/>
              <a:gdLst/>
              <a:ahLst/>
              <a:cxnLst/>
              <a:rect r="r" b="b" t="t" l="l"/>
              <a:pathLst>
                <a:path h="8256270" w="6650863">
                  <a:moveTo>
                    <a:pt x="0" y="0"/>
                  </a:moveTo>
                  <a:lnTo>
                    <a:pt x="6650863" y="0"/>
                  </a:lnTo>
                  <a:lnTo>
                    <a:pt x="6650863" y="8256270"/>
                  </a:lnTo>
                  <a:lnTo>
                    <a:pt x="0" y="8256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1763" t="-13699" r="-23616" b="-1410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161842" y="2695003"/>
            <a:ext cx="5125784" cy="6450235"/>
            <a:chOff x="0" y="0"/>
            <a:chExt cx="6834378" cy="860031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34378" cy="8600313"/>
            </a:xfrm>
            <a:custGeom>
              <a:avLst/>
              <a:gdLst/>
              <a:ahLst/>
              <a:cxnLst/>
              <a:rect r="r" b="b" t="t" l="l"/>
              <a:pathLst>
                <a:path h="8600313" w="6834378">
                  <a:moveTo>
                    <a:pt x="0" y="0"/>
                  </a:moveTo>
                  <a:lnTo>
                    <a:pt x="6834378" y="0"/>
                  </a:lnTo>
                  <a:lnTo>
                    <a:pt x="6834378" y="8600313"/>
                  </a:lnTo>
                  <a:lnTo>
                    <a:pt x="0" y="8600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2705" t="3999" r="-67865" b="-2368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923652" y="2961542"/>
            <a:ext cx="4988176" cy="6708238"/>
            <a:chOff x="0" y="0"/>
            <a:chExt cx="6650901" cy="89443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50863" cy="8944356"/>
            </a:xfrm>
            <a:custGeom>
              <a:avLst/>
              <a:gdLst/>
              <a:ahLst/>
              <a:cxnLst/>
              <a:rect r="r" b="b" t="t" l="l"/>
              <a:pathLst>
                <a:path h="8944356" w="6650863">
                  <a:moveTo>
                    <a:pt x="0" y="0"/>
                  </a:moveTo>
                  <a:lnTo>
                    <a:pt x="6650863" y="0"/>
                  </a:lnTo>
                  <a:lnTo>
                    <a:pt x="6650863" y="8944356"/>
                  </a:lnTo>
                  <a:lnTo>
                    <a:pt x="0" y="8944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0460" t="0" r="-31684" b="753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6275" y="607695"/>
            <a:ext cx="3310890" cy="567690"/>
            <a:chOff x="0" y="0"/>
            <a:chExt cx="4414520" cy="756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4520" cy="756920"/>
            </a:xfrm>
            <a:custGeom>
              <a:avLst/>
              <a:gdLst/>
              <a:ahLst/>
              <a:cxnLst/>
              <a:rect r="r" b="b" t="t" l="l"/>
              <a:pathLst>
                <a:path h="756920" w="44145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036060" y="0"/>
                  </a:lnTo>
                  <a:cubicBezTo>
                    <a:pt x="4245102" y="0"/>
                    <a:pt x="4414520" y="169418"/>
                    <a:pt x="4414520" y="378460"/>
                  </a:cubicBezTo>
                  <a:cubicBezTo>
                    <a:pt x="4414520" y="587502"/>
                    <a:pt x="4245102" y="756920"/>
                    <a:pt x="403606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40" r="0" b="-6364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3291840" cy="548640"/>
            <a:chOff x="0" y="0"/>
            <a:chExt cx="43891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89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1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· DATABASE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1371600"/>
            <a:ext cx="14401800" cy="1234440"/>
            <a:chOff x="0" y="0"/>
            <a:chExt cx="192024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2024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 Design &amp; ER Diagram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2743200"/>
            <a:ext cx="15773400" cy="685800"/>
            <a:chOff x="0" y="0"/>
            <a:chExt cx="210312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03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MongoDB collections for candidates, resumes, jobs, sessions and feedback, and how they relate.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1512" y="3620453"/>
            <a:ext cx="7709535" cy="5583555"/>
            <a:chOff x="0" y="0"/>
            <a:chExt cx="10279380" cy="7444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79380" cy="7444740"/>
            </a:xfrm>
            <a:custGeom>
              <a:avLst/>
              <a:gdLst/>
              <a:ahLst/>
              <a:cxnLst/>
              <a:rect r="r" b="b" t="t" l="l"/>
              <a:pathLst>
                <a:path h="7444740" w="1027938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10058781" y="0"/>
                  </a:lnTo>
                  <a:cubicBezTo>
                    <a:pt x="10180575" y="0"/>
                    <a:pt x="10279380" y="98806"/>
                    <a:pt x="10279380" y="220599"/>
                  </a:cubicBezTo>
                  <a:lnTo>
                    <a:pt x="10279380" y="7224141"/>
                  </a:lnTo>
                  <a:cubicBezTo>
                    <a:pt x="10279380" y="7345935"/>
                    <a:pt x="10180575" y="7444740"/>
                    <a:pt x="10058781" y="7444740"/>
                  </a:cubicBezTo>
                  <a:lnTo>
                    <a:pt x="220599" y="7444740"/>
                  </a:lnTo>
                  <a:cubicBezTo>
                    <a:pt x="98806" y="7444740"/>
                    <a:pt x="0" y="7345934"/>
                    <a:pt x="0" y="7224141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97280" y="3909060"/>
            <a:ext cx="6858000" cy="480060"/>
            <a:chOff x="0" y="0"/>
            <a:chExt cx="914400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1440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Principles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4526280"/>
            <a:ext cx="6858000" cy="754380"/>
            <a:chOff x="0" y="0"/>
            <a:chExt cx="914400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1440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Flexible, document-based schema to suit variable-length transcripts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280" y="5486400"/>
            <a:ext cx="6858000" cy="754380"/>
            <a:chOff x="0" y="0"/>
            <a:chExt cx="914400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1440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Collections: Users, Resumes, Jobs, InterviewSessions, Feedback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280" y="6446520"/>
            <a:ext cx="6858000" cy="754380"/>
            <a:chOff x="0" y="0"/>
            <a:chExt cx="914400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1440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References between collections via ObjectId rather than deep nesting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7406640"/>
            <a:ext cx="6858000" cy="754380"/>
            <a:chOff x="0" y="0"/>
            <a:chExt cx="914400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1440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Indexes on candidate ID and session ID for fast dashboard lookups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768715" y="3625215"/>
            <a:ext cx="8865870" cy="5574030"/>
            <a:chOff x="0" y="0"/>
            <a:chExt cx="11821160" cy="7432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821161" cy="7432040"/>
            </a:xfrm>
            <a:custGeom>
              <a:avLst/>
              <a:gdLst/>
              <a:ahLst/>
              <a:cxnLst/>
              <a:rect r="r" b="b" t="t" l="l"/>
              <a:pathLst>
                <a:path h="7432040" w="11821161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1637645" y="0"/>
                  </a:lnTo>
                  <a:cubicBezTo>
                    <a:pt x="11738991" y="0"/>
                    <a:pt x="11821161" y="82169"/>
                    <a:pt x="11821161" y="183515"/>
                  </a:cubicBezTo>
                  <a:lnTo>
                    <a:pt x="11821161" y="7248525"/>
                  </a:lnTo>
                  <a:cubicBezTo>
                    <a:pt x="11821161" y="7349871"/>
                    <a:pt x="11738991" y="7432040"/>
                    <a:pt x="11637645" y="7432040"/>
                  </a:cubicBezTo>
                  <a:lnTo>
                    <a:pt x="183515" y="7432040"/>
                  </a:lnTo>
                  <a:cubicBezTo>
                    <a:pt x="82169" y="7432040"/>
                    <a:pt x="0" y="7349871"/>
                    <a:pt x="0" y="7248525"/>
                  </a:cubicBezTo>
                  <a:close/>
                </a:path>
              </a:pathLst>
            </a:custGeom>
            <a:solidFill>
              <a:srgbClr val="241542">
                <a:alpha val="80784"/>
              </a:srgbClr>
            </a:solidFill>
            <a:ln w="19050" cap="sq">
              <a:solidFill>
                <a:srgbClr val="9A93B5"/>
              </a:solidFill>
              <a:prstDash val="dash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052560" y="3634740"/>
            <a:ext cx="8298180" cy="5554980"/>
            <a:chOff x="0" y="0"/>
            <a:chExt cx="11064240" cy="7406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64240" cy="7406640"/>
            </a:xfrm>
            <a:custGeom>
              <a:avLst/>
              <a:gdLst/>
              <a:ahLst/>
              <a:cxnLst/>
              <a:rect r="r" b="b" t="t" l="l"/>
              <a:pathLst>
                <a:path h="740664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7406640"/>
                  </a:lnTo>
                  <a:lnTo>
                    <a:pt x="0" y="7406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5889" t="0" r="-35889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1064240" cy="7454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i="true">
                  <a:solidFill>
                    <a:srgbClr val="9A93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[Insert ER Diagram here]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 Practice Platform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778240" y="3566160"/>
            <a:ext cx="8846820" cy="5897880"/>
            <a:chOff x="0" y="0"/>
            <a:chExt cx="11795760" cy="7863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795760" cy="7863840"/>
            </a:xfrm>
            <a:custGeom>
              <a:avLst/>
              <a:gdLst/>
              <a:ahLst/>
              <a:cxnLst/>
              <a:rect r="r" b="b" t="t" l="l"/>
              <a:pathLst>
                <a:path h="7863840" w="11795760">
                  <a:moveTo>
                    <a:pt x="0" y="0"/>
                  </a:moveTo>
                  <a:lnTo>
                    <a:pt x="11795760" y="0"/>
                  </a:lnTo>
                  <a:lnTo>
                    <a:pt x="11795760" y="7863840"/>
                  </a:lnTo>
                  <a:lnTo>
                    <a:pt x="0" y="7863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6275" y="607695"/>
            <a:ext cx="3310890" cy="567690"/>
            <a:chOff x="0" y="0"/>
            <a:chExt cx="4414520" cy="756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4520" cy="756920"/>
            </a:xfrm>
            <a:custGeom>
              <a:avLst/>
              <a:gdLst/>
              <a:ahLst/>
              <a:cxnLst/>
              <a:rect r="r" b="b" t="t" l="l"/>
              <a:pathLst>
                <a:path h="756920" w="44145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036060" y="0"/>
                  </a:lnTo>
                  <a:cubicBezTo>
                    <a:pt x="4245102" y="0"/>
                    <a:pt x="4414520" y="169418"/>
                    <a:pt x="4414520" y="378460"/>
                  </a:cubicBezTo>
                  <a:cubicBezTo>
                    <a:pt x="4414520" y="587502"/>
                    <a:pt x="4245102" y="756920"/>
                    <a:pt x="403606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40" r="0" b="-6364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3291840" cy="548640"/>
            <a:chOff x="0" y="0"/>
            <a:chExt cx="43891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89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1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· DATABASE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1371600"/>
            <a:ext cx="14401800" cy="1234440"/>
            <a:chOff x="0" y="0"/>
            <a:chExt cx="192024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2024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 Tables / Schema &amp; Sample Records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1512" y="2797492"/>
            <a:ext cx="8121015" cy="6337935"/>
            <a:chOff x="0" y="0"/>
            <a:chExt cx="10828020" cy="84505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28020" cy="8450580"/>
            </a:xfrm>
            <a:custGeom>
              <a:avLst/>
              <a:gdLst/>
              <a:ahLst/>
              <a:cxnLst/>
              <a:rect r="r" b="b" t="t" l="l"/>
              <a:pathLst>
                <a:path h="8450580" w="1082802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07548" y="0"/>
                  </a:lnTo>
                  <a:cubicBezTo>
                    <a:pt x="10729341" y="0"/>
                    <a:pt x="10828020" y="98679"/>
                    <a:pt x="10828020" y="220472"/>
                  </a:cubicBezTo>
                  <a:lnTo>
                    <a:pt x="10828020" y="8230108"/>
                  </a:lnTo>
                  <a:cubicBezTo>
                    <a:pt x="10828020" y="8351901"/>
                    <a:pt x="10729341" y="8450580"/>
                    <a:pt x="10607548" y="8450580"/>
                  </a:cubicBezTo>
                  <a:lnTo>
                    <a:pt x="220472" y="8450580"/>
                  </a:lnTo>
                  <a:cubicBezTo>
                    <a:pt x="98679" y="8450580"/>
                    <a:pt x="0" y="8351901"/>
                    <a:pt x="0" y="8230108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280" y="3086100"/>
            <a:ext cx="7269480" cy="480060"/>
            <a:chOff x="0" y="0"/>
            <a:chExt cx="969264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Schema Overview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3771900"/>
            <a:ext cx="7269480" cy="754380"/>
            <a:chOff x="0" y="0"/>
            <a:chExt cx="9692640" cy="1005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926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764" r="0" b="-13776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6926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Users  </a:t>
              </a:r>
              <a:r>
                <a:rPr lang="en-US" sz="172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name, email, passwordHash, createdAt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4732020"/>
            <a:ext cx="7269480" cy="754380"/>
            <a:chOff x="0" y="0"/>
            <a:chExt cx="969264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926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764" r="0" b="-13776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6926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Resumes  </a:t>
              </a:r>
              <a:r>
                <a:rPr lang="en-US" sz="172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userId, parsedSkills[], rawText, uploadedAt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280" y="5692140"/>
            <a:ext cx="7269480" cy="754380"/>
            <a:chOff x="0" y="0"/>
            <a:chExt cx="969264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926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764" r="0" b="-13776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6926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Jobs  </a:t>
              </a:r>
              <a:r>
                <a:rPr lang="en-US" sz="172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title, description, requiredSkills[], embedding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280" y="6652260"/>
            <a:ext cx="7269480" cy="754380"/>
            <a:chOff x="0" y="0"/>
            <a:chExt cx="969264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926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764" r="0" b="-13776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6926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InterviewSessions  </a:t>
              </a:r>
              <a:r>
                <a:rPr lang="en-US" sz="172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userId, jobId, questions[], transcript, status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7612380"/>
            <a:ext cx="7269480" cy="754380"/>
            <a:chOff x="0" y="0"/>
            <a:chExt cx="969264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6926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764" r="0" b="-13776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6926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Feedback  </a:t>
              </a:r>
              <a:r>
                <a:rPr lang="en-US" sz="172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sessionId, contentScore, deliveryScore, comments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80195" y="2802255"/>
            <a:ext cx="8454390" cy="6328410"/>
            <a:chOff x="0" y="0"/>
            <a:chExt cx="11272520" cy="8437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72520" cy="8437880"/>
            </a:xfrm>
            <a:custGeom>
              <a:avLst/>
              <a:gdLst/>
              <a:ahLst/>
              <a:cxnLst/>
              <a:rect r="r" b="b" t="t" l="l"/>
              <a:pathLst>
                <a:path h="8437880" w="1127252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11089132" y="0"/>
                  </a:lnTo>
                  <a:cubicBezTo>
                    <a:pt x="11190477" y="0"/>
                    <a:pt x="11272520" y="82169"/>
                    <a:pt x="11272520" y="183388"/>
                  </a:cubicBezTo>
                  <a:lnTo>
                    <a:pt x="11272520" y="8254492"/>
                  </a:lnTo>
                  <a:cubicBezTo>
                    <a:pt x="11272520" y="8355838"/>
                    <a:pt x="11190350" y="8437880"/>
                    <a:pt x="11089132" y="8437880"/>
                  </a:cubicBezTo>
                  <a:lnTo>
                    <a:pt x="183388" y="8437880"/>
                  </a:lnTo>
                  <a:cubicBezTo>
                    <a:pt x="82169" y="8437880"/>
                    <a:pt x="0" y="8355711"/>
                    <a:pt x="0" y="8254492"/>
                  </a:cubicBezTo>
                  <a:close/>
                </a:path>
              </a:pathLst>
            </a:custGeom>
            <a:solidFill>
              <a:srgbClr val="241542">
                <a:alpha val="80784"/>
              </a:srgbClr>
            </a:solidFill>
            <a:ln w="19050" cap="sq">
              <a:solidFill>
                <a:srgbClr val="9A93B5"/>
              </a:solidFill>
              <a:prstDash val="dash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464040" y="2811780"/>
            <a:ext cx="7886700" cy="6309360"/>
            <a:chOff x="0" y="0"/>
            <a:chExt cx="10515600" cy="84124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156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8412480"/>
                  </a:lnTo>
                  <a:lnTo>
                    <a:pt x="0" y="8412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515600" cy="8460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i="true">
                  <a:solidFill>
                    <a:srgbClr val="9A93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[Insert sample database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i="true">
                  <a:solidFill>
                    <a:srgbClr val="9A93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records / table screenshots here]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 Practice Platform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144000" y="2811780"/>
            <a:ext cx="8683733" cy="6309360"/>
            <a:chOff x="0" y="0"/>
            <a:chExt cx="11578311" cy="8412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578336" cy="8412480"/>
            </a:xfrm>
            <a:custGeom>
              <a:avLst/>
              <a:gdLst/>
              <a:ahLst/>
              <a:cxnLst/>
              <a:rect r="r" b="b" t="t" l="l"/>
              <a:pathLst>
                <a:path h="8412480" w="11578336">
                  <a:moveTo>
                    <a:pt x="0" y="0"/>
                  </a:moveTo>
                  <a:lnTo>
                    <a:pt x="11578336" y="0"/>
                  </a:lnTo>
                  <a:lnTo>
                    <a:pt x="11578336" y="8412480"/>
                  </a:lnTo>
                  <a:lnTo>
                    <a:pt x="0" y="8412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1133" b="-5369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6275" y="607695"/>
            <a:ext cx="3310890" cy="567690"/>
            <a:chOff x="0" y="0"/>
            <a:chExt cx="4414520" cy="756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4520" cy="756920"/>
            </a:xfrm>
            <a:custGeom>
              <a:avLst/>
              <a:gdLst/>
              <a:ahLst/>
              <a:cxnLst/>
              <a:rect r="r" b="b" t="t" l="l"/>
              <a:pathLst>
                <a:path h="756920" w="44145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036060" y="0"/>
                  </a:lnTo>
                  <a:cubicBezTo>
                    <a:pt x="4245102" y="0"/>
                    <a:pt x="4414520" y="169418"/>
                    <a:pt x="4414520" y="378460"/>
                  </a:cubicBezTo>
                  <a:cubicBezTo>
                    <a:pt x="4414520" y="587502"/>
                    <a:pt x="4245102" y="756920"/>
                    <a:pt x="403606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40" r="0" b="-6364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3291840" cy="548640"/>
            <a:chOff x="0" y="0"/>
            <a:chExt cx="43891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89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1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· STATUS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1371600"/>
            <a:ext cx="14401800" cy="1234440"/>
            <a:chOff x="0" y="0"/>
            <a:chExt cx="192024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2024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Progress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1512" y="2866072"/>
            <a:ext cx="8121015" cy="1194435"/>
            <a:chOff x="0" y="0"/>
            <a:chExt cx="10828020" cy="15925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28020" cy="1592580"/>
            </a:xfrm>
            <a:custGeom>
              <a:avLst/>
              <a:gdLst/>
              <a:ahLst/>
              <a:cxnLst/>
              <a:rect r="r" b="b" t="t" l="l"/>
              <a:pathLst>
                <a:path h="1592580" w="10828020">
                  <a:moveTo>
                    <a:pt x="0" y="224790"/>
                  </a:moveTo>
                  <a:cubicBezTo>
                    <a:pt x="0" y="100711"/>
                    <a:pt x="100711" y="0"/>
                    <a:pt x="224790" y="0"/>
                  </a:cubicBezTo>
                  <a:lnTo>
                    <a:pt x="10603230" y="0"/>
                  </a:lnTo>
                  <a:cubicBezTo>
                    <a:pt x="10727437" y="0"/>
                    <a:pt x="10828020" y="100711"/>
                    <a:pt x="10828020" y="224790"/>
                  </a:cubicBezTo>
                  <a:lnTo>
                    <a:pt x="10828020" y="1367790"/>
                  </a:lnTo>
                  <a:cubicBezTo>
                    <a:pt x="10828020" y="1491996"/>
                    <a:pt x="10727310" y="1592580"/>
                    <a:pt x="10603230" y="1592580"/>
                  </a:cubicBezTo>
                  <a:lnTo>
                    <a:pt x="224790" y="1592580"/>
                  </a:lnTo>
                  <a:cubicBezTo>
                    <a:pt x="100711" y="1592580"/>
                    <a:pt x="0" y="1491869"/>
                    <a:pt x="0" y="1367790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6E5FA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2880360"/>
            <a:ext cx="5349240" cy="1165860"/>
            <a:chOff x="0" y="0"/>
            <a:chExt cx="713232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32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401" r="0" b="-394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13232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Resume parsing service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172200" y="2880360"/>
            <a:ext cx="2263140" cy="1165860"/>
            <a:chOff x="0" y="0"/>
            <a:chExt cx="3017520" cy="1554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17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95" t="0" r="-1609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01752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i="true">
                  <a:solidFill>
                    <a:srgbClr val="9A93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[In progress]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44012" y="2866072"/>
            <a:ext cx="8121015" cy="1194435"/>
            <a:chOff x="0" y="0"/>
            <a:chExt cx="10828020" cy="15925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28020" cy="1592580"/>
            </a:xfrm>
            <a:custGeom>
              <a:avLst/>
              <a:gdLst/>
              <a:ahLst/>
              <a:cxnLst/>
              <a:rect r="r" b="b" t="t" l="l"/>
              <a:pathLst>
                <a:path h="1592580" w="10828020">
                  <a:moveTo>
                    <a:pt x="0" y="224790"/>
                  </a:moveTo>
                  <a:cubicBezTo>
                    <a:pt x="0" y="100711"/>
                    <a:pt x="100711" y="0"/>
                    <a:pt x="224790" y="0"/>
                  </a:cubicBezTo>
                  <a:lnTo>
                    <a:pt x="10603230" y="0"/>
                  </a:lnTo>
                  <a:cubicBezTo>
                    <a:pt x="10727437" y="0"/>
                    <a:pt x="10828020" y="100711"/>
                    <a:pt x="10828020" y="224790"/>
                  </a:cubicBezTo>
                  <a:lnTo>
                    <a:pt x="10828020" y="1367790"/>
                  </a:lnTo>
                  <a:cubicBezTo>
                    <a:pt x="10828020" y="1491996"/>
                    <a:pt x="10727310" y="1592580"/>
                    <a:pt x="10603230" y="1592580"/>
                  </a:cubicBezTo>
                  <a:lnTo>
                    <a:pt x="224790" y="1592580"/>
                  </a:lnTo>
                  <a:cubicBezTo>
                    <a:pt x="100711" y="1592580"/>
                    <a:pt x="0" y="1491869"/>
                    <a:pt x="0" y="1367790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6E5FA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601200" y="2880360"/>
            <a:ext cx="5349240" cy="1165860"/>
            <a:chOff x="0" y="0"/>
            <a:chExt cx="7132320" cy="1554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32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401" r="0" b="-394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13232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matching engine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744700" y="2880360"/>
            <a:ext cx="2263140" cy="1165860"/>
            <a:chOff x="0" y="0"/>
            <a:chExt cx="3017520" cy="155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17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95" t="0" r="-16095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01752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i="true">
                  <a:solidFill>
                    <a:srgbClr val="9A93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[In progress]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71512" y="4306253"/>
            <a:ext cx="8121015" cy="1194435"/>
            <a:chOff x="0" y="0"/>
            <a:chExt cx="10828020" cy="15925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828020" cy="1592580"/>
            </a:xfrm>
            <a:custGeom>
              <a:avLst/>
              <a:gdLst/>
              <a:ahLst/>
              <a:cxnLst/>
              <a:rect r="r" b="b" t="t" l="l"/>
              <a:pathLst>
                <a:path h="1592580" w="10828020">
                  <a:moveTo>
                    <a:pt x="0" y="224790"/>
                  </a:moveTo>
                  <a:cubicBezTo>
                    <a:pt x="0" y="100711"/>
                    <a:pt x="100711" y="0"/>
                    <a:pt x="224790" y="0"/>
                  </a:cubicBezTo>
                  <a:lnTo>
                    <a:pt x="10603230" y="0"/>
                  </a:lnTo>
                  <a:cubicBezTo>
                    <a:pt x="10727437" y="0"/>
                    <a:pt x="10828020" y="100711"/>
                    <a:pt x="10828020" y="224790"/>
                  </a:cubicBezTo>
                  <a:lnTo>
                    <a:pt x="10828020" y="1367790"/>
                  </a:lnTo>
                  <a:cubicBezTo>
                    <a:pt x="10828020" y="1491996"/>
                    <a:pt x="10727310" y="1592580"/>
                    <a:pt x="10603230" y="1592580"/>
                  </a:cubicBezTo>
                  <a:lnTo>
                    <a:pt x="224790" y="1592580"/>
                  </a:lnTo>
                  <a:cubicBezTo>
                    <a:pt x="100711" y="1592580"/>
                    <a:pt x="0" y="1491869"/>
                    <a:pt x="0" y="1367790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6E5FA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28700" y="4320540"/>
            <a:ext cx="5349240" cy="1165860"/>
            <a:chOff x="0" y="0"/>
            <a:chExt cx="7132320" cy="1554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32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401" r="0" b="-394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13232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 generation (LLM)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72200" y="4320540"/>
            <a:ext cx="2263140" cy="1165860"/>
            <a:chOff x="0" y="0"/>
            <a:chExt cx="3017520" cy="1554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17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95" t="0" r="-16095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01752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i="true">
                  <a:solidFill>
                    <a:srgbClr val="9A93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[Not started]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44012" y="4306253"/>
            <a:ext cx="8121015" cy="1194435"/>
            <a:chOff x="0" y="0"/>
            <a:chExt cx="10828020" cy="15925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28020" cy="1592580"/>
            </a:xfrm>
            <a:custGeom>
              <a:avLst/>
              <a:gdLst/>
              <a:ahLst/>
              <a:cxnLst/>
              <a:rect r="r" b="b" t="t" l="l"/>
              <a:pathLst>
                <a:path h="1592580" w="10828020">
                  <a:moveTo>
                    <a:pt x="0" y="224790"/>
                  </a:moveTo>
                  <a:cubicBezTo>
                    <a:pt x="0" y="100711"/>
                    <a:pt x="100711" y="0"/>
                    <a:pt x="224790" y="0"/>
                  </a:cubicBezTo>
                  <a:lnTo>
                    <a:pt x="10603230" y="0"/>
                  </a:lnTo>
                  <a:cubicBezTo>
                    <a:pt x="10727437" y="0"/>
                    <a:pt x="10828020" y="100711"/>
                    <a:pt x="10828020" y="224790"/>
                  </a:cubicBezTo>
                  <a:lnTo>
                    <a:pt x="10828020" y="1367790"/>
                  </a:lnTo>
                  <a:cubicBezTo>
                    <a:pt x="10828020" y="1491996"/>
                    <a:pt x="10727310" y="1592580"/>
                    <a:pt x="10603230" y="1592580"/>
                  </a:cubicBezTo>
                  <a:lnTo>
                    <a:pt x="224790" y="1592580"/>
                  </a:lnTo>
                  <a:cubicBezTo>
                    <a:pt x="100711" y="1592580"/>
                    <a:pt x="0" y="1491869"/>
                    <a:pt x="0" y="1367790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6E5FA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601200" y="4320540"/>
            <a:ext cx="5349240" cy="1165860"/>
            <a:chOff x="0" y="0"/>
            <a:chExt cx="713232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32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401" r="0" b="-3940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713232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answer capture (audio/video)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744700" y="4320540"/>
            <a:ext cx="2263140" cy="1165860"/>
            <a:chOff x="0" y="0"/>
            <a:chExt cx="3017520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17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95" t="0" r="-1609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301752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i="true">
                  <a:solidFill>
                    <a:srgbClr val="9A93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[Not started]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71512" y="5746432"/>
            <a:ext cx="8121015" cy="1194435"/>
            <a:chOff x="0" y="0"/>
            <a:chExt cx="10828020" cy="15925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828020" cy="1592580"/>
            </a:xfrm>
            <a:custGeom>
              <a:avLst/>
              <a:gdLst/>
              <a:ahLst/>
              <a:cxnLst/>
              <a:rect r="r" b="b" t="t" l="l"/>
              <a:pathLst>
                <a:path h="1592580" w="10828020">
                  <a:moveTo>
                    <a:pt x="0" y="224790"/>
                  </a:moveTo>
                  <a:cubicBezTo>
                    <a:pt x="0" y="100711"/>
                    <a:pt x="100711" y="0"/>
                    <a:pt x="224790" y="0"/>
                  </a:cubicBezTo>
                  <a:lnTo>
                    <a:pt x="10603230" y="0"/>
                  </a:lnTo>
                  <a:cubicBezTo>
                    <a:pt x="10727437" y="0"/>
                    <a:pt x="10828020" y="100711"/>
                    <a:pt x="10828020" y="224790"/>
                  </a:cubicBezTo>
                  <a:lnTo>
                    <a:pt x="10828020" y="1367790"/>
                  </a:lnTo>
                  <a:cubicBezTo>
                    <a:pt x="10828020" y="1491996"/>
                    <a:pt x="10727310" y="1592580"/>
                    <a:pt x="10603230" y="1592580"/>
                  </a:cubicBezTo>
                  <a:lnTo>
                    <a:pt x="224790" y="1592580"/>
                  </a:lnTo>
                  <a:cubicBezTo>
                    <a:pt x="100711" y="1592580"/>
                    <a:pt x="0" y="1491869"/>
                    <a:pt x="0" y="1367790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6E5FA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028700" y="5760720"/>
            <a:ext cx="5349240" cy="1165860"/>
            <a:chOff x="0" y="0"/>
            <a:chExt cx="7132320" cy="1554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132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401" r="0" b="-394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713232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Speech-to-text pipeline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72200" y="5760720"/>
            <a:ext cx="2263140" cy="1165860"/>
            <a:chOff x="0" y="0"/>
            <a:chExt cx="3017520" cy="15544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17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95" t="0" r="-16095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301752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i="true">
                  <a:solidFill>
                    <a:srgbClr val="9A93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[Not started]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244012" y="5746432"/>
            <a:ext cx="8121015" cy="1194435"/>
            <a:chOff x="0" y="0"/>
            <a:chExt cx="10828020" cy="15925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828020" cy="1592580"/>
            </a:xfrm>
            <a:custGeom>
              <a:avLst/>
              <a:gdLst/>
              <a:ahLst/>
              <a:cxnLst/>
              <a:rect r="r" b="b" t="t" l="l"/>
              <a:pathLst>
                <a:path h="1592580" w="10828020">
                  <a:moveTo>
                    <a:pt x="0" y="224790"/>
                  </a:moveTo>
                  <a:cubicBezTo>
                    <a:pt x="0" y="100711"/>
                    <a:pt x="100711" y="0"/>
                    <a:pt x="224790" y="0"/>
                  </a:cubicBezTo>
                  <a:lnTo>
                    <a:pt x="10603230" y="0"/>
                  </a:lnTo>
                  <a:cubicBezTo>
                    <a:pt x="10727437" y="0"/>
                    <a:pt x="10828020" y="100711"/>
                    <a:pt x="10828020" y="224790"/>
                  </a:cubicBezTo>
                  <a:lnTo>
                    <a:pt x="10828020" y="1367790"/>
                  </a:lnTo>
                  <a:cubicBezTo>
                    <a:pt x="10828020" y="1491996"/>
                    <a:pt x="10727310" y="1592580"/>
                    <a:pt x="10603230" y="1592580"/>
                  </a:cubicBezTo>
                  <a:lnTo>
                    <a:pt x="224790" y="1592580"/>
                  </a:lnTo>
                  <a:cubicBezTo>
                    <a:pt x="100711" y="1592580"/>
                    <a:pt x="0" y="1491869"/>
                    <a:pt x="0" y="1367790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6E5FA0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601200" y="5760720"/>
            <a:ext cx="5349240" cy="1165860"/>
            <a:chOff x="0" y="0"/>
            <a:chExt cx="7132320" cy="15544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32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401" r="0" b="-3940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713232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Feedback dashboard (frontend)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744700" y="5760720"/>
            <a:ext cx="2263140" cy="1165860"/>
            <a:chOff x="0" y="0"/>
            <a:chExt cx="3017520" cy="15544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017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95" t="0" r="-16095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301752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i="true">
                  <a:solidFill>
                    <a:srgbClr val="9A93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[Not started]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5800" y="8915400"/>
            <a:ext cx="15773400" cy="548640"/>
            <a:chOff x="0" y="0"/>
            <a:chExt cx="2103120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21031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9A93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Update the status labels above with the team's actual progress before Review 2.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 Practice Platform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6275" y="607695"/>
            <a:ext cx="3310890" cy="567690"/>
            <a:chOff x="0" y="0"/>
            <a:chExt cx="4414520" cy="756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4520" cy="756920"/>
            </a:xfrm>
            <a:custGeom>
              <a:avLst/>
              <a:gdLst/>
              <a:ahLst/>
              <a:cxnLst/>
              <a:rect r="r" b="b" t="t" l="l"/>
              <a:pathLst>
                <a:path h="756920" w="44145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036060" y="0"/>
                  </a:lnTo>
                  <a:cubicBezTo>
                    <a:pt x="4245102" y="0"/>
                    <a:pt x="4414520" y="169418"/>
                    <a:pt x="4414520" y="378460"/>
                  </a:cubicBezTo>
                  <a:cubicBezTo>
                    <a:pt x="4414520" y="587502"/>
                    <a:pt x="4245102" y="756920"/>
                    <a:pt x="403606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40" r="0" b="-6364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3291840" cy="548640"/>
            <a:chOff x="0" y="0"/>
            <a:chExt cx="43891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89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1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· STATUS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1371600"/>
            <a:ext cx="14401800" cy="1234440"/>
            <a:chOff x="0" y="0"/>
            <a:chExt cx="192024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2024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/ Issues Faced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2743200"/>
            <a:ext cx="15773400" cy="548640"/>
            <a:chOff x="0" y="0"/>
            <a:chExt cx="210312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 technical questions that come with this three-service, free-tier architecture.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1512" y="3483292"/>
            <a:ext cx="8121015" cy="2291715"/>
            <a:chOff x="0" y="0"/>
            <a:chExt cx="10828020" cy="30556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28020" cy="3055620"/>
            </a:xfrm>
            <a:custGeom>
              <a:avLst/>
              <a:gdLst/>
              <a:ahLst/>
              <a:cxnLst/>
              <a:rect r="r" b="b" t="t" l="l"/>
              <a:pathLst>
                <a:path h="3055620" w="10828020">
                  <a:moveTo>
                    <a:pt x="0" y="222250"/>
                  </a:moveTo>
                  <a:cubicBezTo>
                    <a:pt x="0" y="99441"/>
                    <a:pt x="99441" y="0"/>
                    <a:pt x="222250" y="0"/>
                  </a:cubicBezTo>
                  <a:lnTo>
                    <a:pt x="10605770" y="0"/>
                  </a:lnTo>
                  <a:cubicBezTo>
                    <a:pt x="10728451" y="0"/>
                    <a:pt x="10828020" y="99441"/>
                    <a:pt x="10828020" y="222250"/>
                  </a:cubicBezTo>
                  <a:lnTo>
                    <a:pt x="10828020" y="2833370"/>
                  </a:lnTo>
                  <a:cubicBezTo>
                    <a:pt x="10828020" y="2956052"/>
                    <a:pt x="10728578" y="3055620"/>
                    <a:pt x="10605770" y="3055620"/>
                  </a:cubicBezTo>
                  <a:lnTo>
                    <a:pt x="222250" y="3055620"/>
                  </a:lnTo>
                  <a:cubicBezTo>
                    <a:pt x="99441" y="3055620"/>
                    <a:pt x="0" y="2956179"/>
                    <a:pt x="0" y="2833370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16794" y="3787426"/>
            <a:ext cx="503872" cy="503872"/>
            <a:chOff x="0" y="0"/>
            <a:chExt cx="671830" cy="6718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1830" cy="671830"/>
            </a:xfrm>
            <a:custGeom>
              <a:avLst/>
              <a:gdLst/>
              <a:ahLst/>
              <a:cxnLst/>
              <a:rect r="r" b="b" t="t" l="l"/>
              <a:pathLst>
                <a:path h="671830" w="67183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556641" y="0"/>
                  </a:lnTo>
                  <a:cubicBezTo>
                    <a:pt x="620268" y="0"/>
                    <a:pt x="671830" y="51562"/>
                    <a:pt x="671830" y="115189"/>
                  </a:cubicBezTo>
                  <a:lnTo>
                    <a:pt x="671830" y="556641"/>
                  </a:lnTo>
                  <a:cubicBezTo>
                    <a:pt x="671830" y="620268"/>
                    <a:pt x="620268" y="671830"/>
                    <a:pt x="556641" y="671830"/>
                  </a:cubicBezTo>
                  <a:lnTo>
                    <a:pt x="115189" y="671830"/>
                  </a:lnTo>
                  <a:cubicBezTo>
                    <a:pt x="51562" y="671830"/>
                    <a:pt x="0" y="620268"/>
                    <a:pt x="0" y="55664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3799332"/>
            <a:ext cx="480060" cy="480060"/>
            <a:chOff x="0" y="0"/>
            <a:chExt cx="64008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40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4500" y="3771900"/>
            <a:ext cx="6720840" cy="548640"/>
            <a:chOff x="0" y="0"/>
            <a:chExt cx="89611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961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Inconsistent resume formats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4430268"/>
            <a:ext cx="7406640" cy="1097280"/>
            <a:chOff x="0" y="0"/>
            <a:chExt cx="9875520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75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8755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spaCy-based parsing works well on clean, single-column resumes but accuracy drops on tables, multi-column layouts and graphic-heavy templates — pushing us toward extra pre-processing and fallback rules rather than parsing alone.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44012" y="3483292"/>
            <a:ext cx="8121015" cy="2291715"/>
            <a:chOff x="0" y="0"/>
            <a:chExt cx="10828020" cy="30556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828020" cy="3055620"/>
            </a:xfrm>
            <a:custGeom>
              <a:avLst/>
              <a:gdLst/>
              <a:ahLst/>
              <a:cxnLst/>
              <a:rect r="r" b="b" t="t" l="l"/>
              <a:pathLst>
                <a:path h="3055620" w="10828020">
                  <a:moveTo>
                    <a:pt x="0" y="222250"/>
                  </a:moveTo>
                  <a:cubicBezTo>
                    <a:pt x="0" y="99441"/>
                    <a:pt x="99441" y="0"/>
                    <a:pt x="222250" y="0"/>
                  </a:cubicBezTo>
                  <a:lnTo>
                    <a:pt x="10605770" y="0"/>
                  </a:lnTo>
                  <a:cubicBezTo>
                    <a:pt x="10728451" y="0"/>
                    <a:pt x="10828020" y="99441"/>
                    <a:pt x="10828020" y="222250"/>
                  </a:cubicBezTo>
                  <a:lnTo>
                    <a:pt x="10828020" y="2833370"/>
                  </a:lnTo>
                  <a:cubicBezTo>
                    <a:pt x="10828020" y="2956052"/>
                    <a:pt x="10728578" y="3055620"/>
                    <a:pt x="10605770" y="3055620"/>
                  </a:cubicBezTo>
                  <a:lnTo>
                    <a:pt x="222250" y="3055620"/>
                  </a:lnTo>
                  <a:cubicBezTo>
                    <a:pt x="99441" y="3055620"/>
                    <a:pt x="0" y="2956179"/>
                    <a:pt x="0" y="2833370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89294" y="3787426"/>
            <a:ext cx="503872" cy="503872"/>
            <a:chOff x="0" y="0"/>
            <a:chExt cx="671830" cy="67183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1830" cy="671830"/>
            </a:xfrm>
            <a:custGeom>
              <a:avLst/>
              <a:gdLst/>
              <a:ahLst/>
              <a:cxnLst/>
              <a:rect r="r" b="b" t="t" l="l"/>
              <a:pathLst>
                <a:path h="671830" w="67183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556641" y="0"/>
                  </a:lnTo>
                  <a:cubicBezTo>
                    <a:pt x="620268" y="0"/>
                    <a:pt x="671830" y="51562"/>
                    <a:pt x="671830" y="115189"/>
                  </a:cubicBezTo>
                  <a:lnTo>
                    <a:pt x="671830" y="556641"/>
                  </a:lnTo>
                  <a:cubicBezTo>
                    <a:pt x="671830" y="620268"/>
                    <a:pt x="620268" y="671830"/>
                    <a:pt x="556641" y="671830"/>
                  </a:cubicBezTo>
                  <a:lnTo>
                    <a:pt x="115189" y="671830"/>
                  </a:lnTo>
                  <a:cubicBezTo>
                    <a:pt x="51562" y="671830"/>
                    <a:pt x="0" y="620268"/>
                    <a:pt x="0" y="55664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601200" y="3799332"/>
            <a:ext cx="480060" cy="480060"/>
            <a:chOff x="0" y="0"/>
            <a:chExt cx="64008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40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D98F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87000" y="3771900"/>
            <a:ext cx="6720840" cy="548640"/>
            <a:chOff x="0" y="0"/>
            <a:chExt cx="89611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961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Latency across three services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01200" y="4430268"/>
            <a:ext cx="7406640" cy="1097280"/>
            <a:chOff x="0" y="0"/>
            <a:chExt cx="9875520" cy="14630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875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98755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single mock-interview turn chains Node → Flask → an LLM call (and Whisper for transcription). Keeping that feel responsive in a live, in-browser session means careful async handling, not just faster individual calls.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71512" y="6048184"/>
            <a:ext cx="8121015" cy="2291715"/>
            <a:chOff x="0" y="0"/>
            <a:chExt cx="10828020" cy="30556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828020" cy="3055620"/>
            </a:xfrm>
            <a:custGeom>
              <a:avLst/>
              <a:gdLst/>
              <a:ahLst/>
              <a:cxnLst/>
              <a:rect r="r" b="b" t="t" l="l"/>
              <a:pathLst>
                <a:path h="3055620" w="10828020">
                  <a:moveTo>
                    <a:pt x="0" y="222250"/>
                  </a:moveTo>
                  <a:cubicBezTo>
                    <a:pt x="0" y="99441"/>
                    <a:pt x="99441" y="0"/>
                    <a:pt x="222250" y="0"/>
                  </a:cubicBezTo>
                  <a:lnTo>
                    <a:pt x="10605770" y="0"/>
                  </a:lnTo>
                  <a:cubicBezTo>
                    <a:pt x="10728451" y="0"/>
                    <a:pt x="10828020" y="99441"/>
                    <a:pt x="10828020" y="222250"/>
                  </a:cubicBezTo>
                  <a:lnTo>
                    <a:pt x="10828020" y="2833370"/>
                  </a:lnTo>
                  <a:cubicBezTo>
                    <a:pt x="10828020" y="2956052"/>
                    <a:pt x="10728578" y="3055620"/>
                    <a:pt x="10605770" y="3055620"/>
                  </a:cubicBezTo>
                  <a:lnTo>
                    <a:pt x="222250" y="3055620"/>
                  </a:lnTo>
                  <a:cubicBezTo>
                    <a:pt x="99441" y="3055620"/>
                    <a:pt x="0" y="2956179"/>
                    <a:pt x="0" y="2833370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16794" y="6352318"/>
            <a:ext cx="503872" cy="503872"/>
            <a:chOff x="0" y="0"/>
            <a:chExt cx="671830" cy="67183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1830" cy="671830"/>
            </a:xfrm>
            <a:custGeom>
              <a:avLst/>
              <a:gdLst/>
              <a:ahLst/>
              <a:cxnLst/>
              <a:rect r="r" b="b" t="t" l="l"/>
              <a:pathLst>
                <a:path h="671830" w="67183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556641" y="0"/>
                  </a:lnTo>
                  <a:cubicBezTo>
                    <a:pt x="620268" y="0"/>
                    <a:pt x="671830" y="51562"/>
                    <a:pt x="671830" y="115189"/>
                  </a:cubicBezTo>
                  <a:lnTo>
                    <a:pt x="671830" y="556641"/>
                  </a:lnTo>
                  <a:cubicBezTo>
                    <a:pt x="671830" y="620268"/>
                    <a:pt x="620268" y="671830"/>
                    <a:pt x="556641" y="671830"/>
                  </a:cubicBezTo>
                  <a:lnTo>
                    <a:pt x="115189" y="671830"/>
                  </a:lnTo>
                  <a:cubicBezTo>
                    <a:pt x="51562" y="671830"/>
                    <a:pt x="0" y="620268"/>
                    <a:pt x="0" y="55664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28700" y="6364224"/>
            <a:ext cx="480060" cy="480060"/>
            <a:chOff x="0" y="0"/>
            <a:chExt cx="64008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40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714500" y="6336792"/>
            <a:ext cx="6720840" cy="548640"/>
            <a:chOff x="0" y="0"/>
            <a:chExt cx="896112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8961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Free-tier rate limits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8700" y="6995160"/>
            <a:ext cx="7406640" cy="1097280"/>
            <a:chOff x="0" y="0"/>
            <a:chExt cx="9875520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875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98755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Groq/Gemini and MongoDB Atlas free tiers cap request volume and concurrency, so testing with multiple simultaneous mock sessions needs request queuing and graceful backoff rather than firing calls directly.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244012" y="6048184"/>
            <a:ext cx="8121015" cy="2291715"/>
            <a:chOff x="0" y="0"/>
            <a:chExt cx="10828020" cy="30556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828020" cy="3055620"/>
            </a:xfrm>
            <a:custGeom>
              <a:avLst/>
              <a:gdLst/>
              <a:ahLst/>
              <a:cxnLst/>
              <a:rect r="r" b="b" t="t" l="l"/>
              <a:pathLst>
                <a:path h="3055620" w="10828020">
                  <a:moveTo>
                    <a:pt x="0" y="222250"/>
                  </a:moveTo>
                  <a:cubicBezTo>
                    <a:pt x="0" y="99441"/>
                    <a:pt x="99441" y="0"/>
                    <a:pt x="222250" y="0"/>
                  </a:cubicBezTo>
                  <a:lnTo>
                    <a:pt x="10605770" y="0"/>
                  </a:lnTo>
                  <a:cubicBezTo>
                    <a:pt x="10728451" y="0"/>
                    <a:pt x="10828020" y="99441"/>
                    <a:pt x="10828020" y="222250"/>
                  </a:cubicBezTo>
                  <a:lnTo>
                    <a:pt x="10828020" y="2833370"/>
                  </a:lnTo>
                  <a:cubicBezTo>
                    <a:pt x="10828020" y="2956052"/>
                    <a:pt x="10728578" y="3055620"/>
                    <a:pt x="10605770" y="3055620"/>
                  </a:cubicBezTo>
                  <a:lnTo>
                    <a:pt x="222250" y="3055620"/>
                  </a:lnTo>
                  <a:cubicBezTo>
                    <a:pt x="99441" y="3055620"/>
                    <a:pt x="0" y="2956179"/>
                    <a:pt x="0" y="2833370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589294" y="6352318"/>
            <a:ext cx="503872" cy="503872"/>
            <a:chOff x="0" y="0"/>
            <a:chExt cx="671830" cy="67183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71830" cy="671830"/>
            </a:xfrm>
            <a:custGeom>
              <a:avLst/>
              <a:gdLst/>
              <a:ahLst/>
              <a:cxnLst/>
              <a:rect r="r" b="b" t="t" l="l"/>
              <a:pathLst>
                <a:path h="671830" w="67183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556641" y="0"/>
                  </a:lnTo>
                  <a:cubicBezTo>
                    <a:pt x="620268" y="0"/>
                    <a:pt x="671830" y="51562"/>
                    <a:pt x="671830" y="115189"/>
                  </a:cubicBezTo>
                  <a:lnTo>
                    <a:pt x="671830" y="556641"/>
                  </a:lnTo>
                  <a:cubicBezTo>
                    <a:pt x="671830" y="620268"/>
                    <a:pt x="620268" y="671830"/>
                    <a:pt x="556641" y="671830"/>
                  </a:cubicBezTo>
                  <a:lnTo>
                    <a:pt x="115189" y="671830"/>
                  </a:lnTo>
                  <a:cubicBezTo>
                    <a:pt x="51562" y="671830"/>
                    <a:pt x="0" y="620268"/>
                    <a:pt x="0" y="55664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601200" y="6364224"/>
            <a:ext cx="480060" cy="480060"/>
            <a:chOff x="0" y="0"/>
            <a:chExt cx="640080" cy="640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40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D98F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287000" y="6336792"/>
            <a:ext cx="6720840" cy="548640"/>
            <a:chOff x="0" y="0"/>
            <a:chExt cx="896112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8961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Cross-browser audio/video capture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601200" y="6995160"/>
            <a:ext cx="7406640" cy="1097280"/>
            <a:chOff x="0" y="0"/>
            <a:chExt cx="9875520" cy="14630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875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98755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getUserMedia and MediaRecorder support different codecs and permission flows across browsers, so a recording flow that works in one browser needs explicit fallback handling to stay consistent in others.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 Practice Platform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6275" y="607695"/>
            <a:ext cx="3310890" cy="567690"/>
            <a:chOff x="0" y="0"/>
            <a:chExt cx="4414520" cy="756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4520" cy="756920"/>
            </a:xfrm>
            <a:custGeom>
              <a:avLst/>
              <a:gdLst/>
              <a:ahLst/>
              <a:cxnLst/>
              <a:rect r="r" b="b" t="t" l="l"/>
              <a:pathLst>
                <a:path h="756920" w="44145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036060" y="0"/>
                  </a:lnTo>
                  <a:cubicBezTo>
                    <a:pt x="4245102" y="0"/>
                    <a:pt x="4414520" y="169418"/>
                    <a:pt x="4414520" y="378460"/>
                  </a:cubicBezTo>
                  <a:cubicBezTo>
                    <a:pt x="4414520" y="587502"/>
                    <a:pt x="4245102" y="756920"/>
                    <a:pt x="403606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40" r="0" b="-6364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3291840" cy="548640"/>
            <a:chOff x="0" y="0"/>
            <a:chExt cx="43891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89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1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 · WHAT'S NEXT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1371600"/>
            <a:ext cx="14401800" cy="1234440"/>
            <a:chOff x="0" y="0"/>
            <a:chExt cx="192024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2024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Work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1512" y="2797492"/>
            <a:ext cx="8121015" cy="1880235"/>
            <a:chOff x="0" y="0"/>
            <a:chExt cx="10828020" cy="25069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28020" cy="2506980"/>
            </a:xfrm>
            <a:custGeom>
              <a:avLst/>
              <a:gdLst/>
              <a:ahLst/>
              <a:cxnLst/>
              <a:rect r="r" b="b" t="t" l="l"/>
              <a:pathLst>
                <a:path h="2506980" w="10828020">
                  <a:moveTo>
                    <a:pt x="0" y="222885"/>
                  </a:moveTo>
                  <a:cubicBezTo>
                    <a:pt x="0" y="99822"/>
                    <a:pt x="99822" y="0"/>
                    <a:pt x="222885" y="0"/>
                  </a:cubicBezTo>
                  <a:lnTo>
                    <a:pt x="10605135" y="0"/>
                  </a:lnTo>
                  <a:cubicBezTo>
                    <a:pt x="10728198" y="0"/>
                    <a:pt x="10828020" y="99822"/>
                    <a:pt x="10828020" y="222885"/>
                  </a:cubicBezTo>
                  <a:lnTo>
                    <a:pt x="10828020" y="2284095"/>
                  </a:lnTo>
                  <a:cubicBezTo>
                    <a:pt x="10828020" y="2407158"/>
                    <a:pt x="10728198" y="2506980"/>
                    <a:pt x="10605135" y="2506980"/>
                  </a:cubicBezTo>
                  <a:lnTo>
                    <a:pt x="222885" y="2506980"/>
                  </a:lnTo>
                  <a:cubicBezTo>
                    <a:pt x="99822" y="2506980"/>
                    <a:pt x="0" y="2407158"/>
                    <a:pt x="0" y="2284095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3154680"/>
            <a:ext cx="192024" cy="192024"/>
            <a:chOff x="0" y="0"/>
            <a:chExt cx="256032" cy="2560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5CE0D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1600" y="3017520"/>
            <a:ext cx="7063740" cy="480060"/>
            <a:chOff x="0" y="0"/>
            <a:chExt cx="941832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1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4183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Body Language Analysis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" y="3497580"/>
            <a:ext cx="7063740" cy="1028700"/>
            <a:chOff x="0" y="0"/>
            <a:chExt cx="9418320" cy="137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18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941832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MediaPipe-based heuristics for eye contact, posture and fidgeting during mock interviews.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244012" y="2797492"/>
            <a:ext cx="8121015" cy="1880235"/>
            <a:chOff x="0" y="0"/>
            <a:chExt cx="10828020" cy="25069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828020" cy="2506980"/>
            </a:xfrm>
            <a:custGeom>
              <a:avLst/>
              <a:gdLst/>
              <a:ahLst/>
              <a:cxnLst/>
              <a:rect r="r" b="b" t="t" l="l"/>
              <a:pathLst>
                <a:path h="2506980" w="10828020">
                  <a:moveTo>
                    <a:pt x="0" y="222885"/>
                  </a:moveTo>
                  <a:cubicBezTo>
                    <a:pt x="0" y="99822"/>
                    <a:pt x="99822" y="0"/>
                    <a:pt x="222885" y="0"/>
                  </a:cubicBezTo>
                  <a:lnTo>
                    <a:pt x="10605135" y="0"/>
                  </a:lnTo>
                  <a:cubicBezTo>
                    <a:pt x="10728198" y="0"/>
                    <a:pt x="10828020" y="99822"/>
                    <a:pt x="10828020" y="222885"/>
                  </a:cubicBezTo>
                  <a:lnTo>
                    <a:pt x="10828020" y="2284095"/>
                  </a:lnTo>
                  <a:cubicBezTo>
                    <a:pt x="10828020" y="2407158"/>
                    <a:pt x="10728198" y="2506980"/>
                    <a:pt x="10605135" y="2506980"/>
                  </a:cubicBezTo>
                  <a:lnTo>
                    <a:pt x="222885" y="2506980"/>
                  </a:lnTo>
                  <a:cubicBezTo>
                    <a:pt x="99822" y="2506980"/>
                    <a:pt x="0" y="2407158"/>
                    <a:pt x="0" y="2284095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601200" y="3154680"/>
            <a:ext cx="192024" cy="192024"/>
            <a:chOff x="0" y="0"/>
            <a:chExt cx="256032" cy="2560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5CE0D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944100" y="3017520"/>
            <a:ext cx="7063740" cy="480060"/>
            <a:chOff x="0" y="0"/>
            <a:chExt cx="941832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41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4183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Voice Modulation Scoring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944100" y="3497580"/>
            <a:ext cx="7063740" cy="1028700"/>
            <a:chOff x="0" y="0"/>
            <a:chExt cx="9418320" cy="137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18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941832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librosa-based pitch, pace and volume analysis for a fuller picture of delivery.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71512" y="4923472"/>
            <a:ext cx="8121015" cy="1880235"/>
            <a:chOff x="0" y="0"/>
            <a:chExt cx="10828020" cy="25069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828020" cy="2506980"/>
            </a:xfrm>
            <a:custGeom>
              <a:avLst/>
              <a:gdLst/>
              <a:ahLst/>
              <a:cxnLst/>
              <a:rect r="r" b="b" t="t" l="l"/>
              <a:pathLst>
                <a:path h="2506980" w="10828020">
                  <a:moveTo>
                    <a:pt x="0" y="222885"/>
                  </a:moveTo>
                  <a:cubicBezTo>
                    <a:pt x="0" y="99822"/>
                    <a:pt x="99822" y="0"/>
                    <a:pt x="222885" y="0"/>
                  </a:cubicBezTo>
                  <a:lnTo>
                    <a:pt x="10605135" y="0"/>
                  </a:lnTo>
                  <a:cubicBezTo>
                    <a:pt x="10728198" y="0"/>
                    <a:pt x="10828020" y="99822"/>
                    <a:pt x="10828020" y="222885"/>
                  </a:cubicBezTo>
                  <a:lnTo>
                    <a:pt x="10828020" y="2284095"/>
                  </a:lnTo>
                  <a:cubicBezTo>
                    <a:pt x="10828020" y="2407158"/>
                    <a:pt x="10728198" y="2506980"/>
                    <a:pt x="10605135" y="2506980"/>
                  </a:cubicBezTo>
                  <a:lnTo>
                    <a:pt x="222885" y="2506980"/>
                  </a:lnTo>
                  <a:cubicBezTo>
                    <a:pt x="99822" y="2506980"/>
                    <a:pt x="0" y="2407158"/>
                    <a:pt x="0" y="2284095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28700" y="5280660"/>
            <a:ext cx="192024" cy="192024"/>
            <a:chOff x="0" y="0"/>
            <a:chExt cx="256032" cy="2560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5CE0D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71600" y="5143500"/>
            <a:ext cx="7063740" cy="480060"/>
            <a:chOff x="0" y="0"/>
            <a:chExt cx="941832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1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4183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Recruiter Dashboard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1600" y="5623560"/>
            <a:ext cx="7063740" cy="1028700"/>
            <a:chOff x="0" y="0"/>
            <a:chExt cx="9418320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418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41832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recruiter-facing view into candidate readiness and match pipelines.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44012" y="4923472"/>
            <a:ext cx="8121015" cy="1880235"/>
            <a:chOff x="0" y="0"/>
            <a:chExt cx="10828020" cy="25069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828020" cy="2506980"/>
            </a:xfrm>
            <a:custGeom>
              <a:avLst/>
              <a:gdLst/>
              <a:ahLst/>
              <a:cxnLst/>
              <a:rect r="r" b="b" t="t" l="l"/>
              <a:pathLst>
                <a:path h="2506980" w="10828020">
                  <a:moveTo>
                    <a:pt x="0" y="222885"/>
                  </a:moveTo>
                  <a:cubicBezTo>
                    <a:pt x="0" y="99822"/>
                    <a:pt x="99822" y="0"/>
                    <a:pt x="222885" y="0"/>
                  </a:cubicBezTo>
                  <a:lnTo>
                    <a:pt x="10605135" y="0"/>
                  </a:lnTo>
                  <a:cubicBezTo>
                    <a:pt x="10728198" y="0"/>
                    <a:pt x="10828020" y="99822"/>
                    <a:pt x="10828020" y="222885"/>
                  </a:cubicBezTo>
                  <a:lnTo>
                    <a:pt x="10828020" y="2284095"/>
                  </a:lnTo>
                  <a:cubicBezTo>
                    <a:pt x="10828020" y="2407158"/>
                    <a:pt x="10728198" y="2506980"/>
                    <a:pt x="10605135" y="2506980"/>
                  </a:cubicBezTo>
                  <a:lnTo>
                    <a:pt x="222885" y="2506980"/>
                  </a:lnTo>
                  <a:cubicBezTo>
                    <a:pt x="99822" y="2506980"/>
                    <a:pt x="0" y="2407158"/>
                    <a:pt x="0" y="2284095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601200" y="5280660"/>
            <a:ext cx="192024" cy="192024"/>
            <a:chOff x="0" y="0"/>
            <a:chExt cx="256032" cy="25603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5CE0D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944100" y="5143500"/>
            <a:ext cx="7063740" cy="480060"/>
            <a:chOff x="0" y="0"/>
            <a:chExt cx="941832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41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4183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Job Board Integration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944100" y="5623560"/>
            <a:ext cx="7063740" cy="1028700"/>
            <a:chOff x="0" y="0"/>
            <a:chExt cx="9418320" cy="1371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418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941832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Pull real postings via LinkedIn/Indeed APIs instead of a static seed dataset.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71512" y="7049453"/>
            <a:ext cx="8121015" cy="1880235"/>
            <a:chOff x="0" y="0"/>
            <a:chExt cx="10828020" cy="25069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828020" cy="2506980"/>
            </a:xfrm>
            <a:custGeom>
              <a:avLst/>
              <a:gdLst/>
              <a:ahLst/>
              <a:cxnLst/>
              <a:rect r="r" b="b" t="t" l="l"/>
              <a:pathLst>
                <a:path h="2506980" w="10828020">
                  <a:moveTo>
                    <a:pt x="0" y="222885"/>
                  </a:moveTo>
                  <a:cubicBezTo>
                    <a:pt x="0" y="99822"/>
                    <a:pt x="99822" y="0"/>
                    <a:pt x="222885" y="0"/>
                  </a:cubicBezTo>
                  <a:lnTo>
                    <a:pt x="10605135" y="0"/>
                  </a:lnTo>
                  <a:cubicBezTo>
                    <a:pt x="10728198" y="0"/>
                    <a:pt x="10828020" y="99822"/>
                    <a:pt x="10828020" y="222885"/>
                  </a:cubicBezTo>
                  <a:lnTo>
                    <a:pt x="10828020" y="2284095"/>
                  </a:lnTo>
                  <a:cubicBezTo>
                    <a:pt x="10828020" y="2407158"/>
                    <a:pt x="10728198" y="2506980"/>
                    <a:pt x="10605135" y="2506980"/>
                  </a:cubicBezTo>
                  <a:lnTo>
                    <a:pt x="222885" y="2506980"/>
                  </a:lnTo>
                  <a:cubicBezTo>
                    <a:pt x="99822" y="2506980"/>
                    <a:pt x="0" y="2407158"/>
                    <a:pt x="0" y="2284095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028700" y="7406640"/>
            <a:ext cx="192024" cy="192024"/>
            <a:chOff x="0" y="0"/>
            <a:chExt cx="256032" cy="25603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5CE0D8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71600" y="7269480"/>
            <a:ext cx="7063740" cy="480060"/>
            <a:chOff x="0" y="0"/>
            <a:chExt cx="9418320" cy="6400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41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4183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Multi-Language Interviews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71600" y="7749540"/>
            <a:ext cx="7063740" cy="1028700"/>
            <a:chOff x="0" y="0"/>
            <a:chExt cx="9418320" cy="13716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418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941832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Support mock interviews and feedback in regional languages.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244012" y="7049453"/>
            <a:ext cx="8121015" cy="1880235"/>
            <a:chOff x="0" y="0"/>
            <a:chExt cx="10828020" cy="25069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828020" cy="2506980"/>
            </a:xfrm>
            <a:custGeom>
              <a:avLst/>
              <a:gdLst/>
              <a:ahLst/>
              <a:cxnLst/>
              <a:rect r="r" b="b" t="t" l="l"/>
              <a:pathLst>
                <a:path h="2506980" w="10828020">
                  <a:moveTo>
                    <a:pt x="0" y="222885"/>
                  </a:moveTo>
                  <a:cubicBezTo>
                    <a:pt x="0" y="99822"/>
                    <a:pt x="99822" y="0"/>
                    <a:pt x="222885" y="0"/>
                  </a:cubicBezTo>
                  <a:lnTo>
                    <a:pt x="10605135" y="0"/>
                  </a:lnTo>
                  <a:cubicBezTo>
                    <a:pt x="10728198" y="0"/>
                    <a:pt x="10828020" y="99822"/>
                    <a:pt x="10828020" y="222885"/>
                  </a:cubicBezTo>
                  <a:lnTo>
                    <a:pt x="10828020" y="2284095"/>
                  </a:lnTo>
                  <a:cubicBezTo>
                    <a:pt x="10828020" y="2407158"/>
                    <a:pt x="10728198" y="2506980"/>
                    <a:pt x="10605135" y="2506980"/>
                  </a:cubicBezTo>
                  <a:lnTo>
                    <a:pt x="222885" y="2506980"/>
                  </a:lnTo>
                  <a:cubicBezTo>
                    <a:pt x="99822" y="2506980"/>
                    <a:pt x="0" y="2407158"/>
                    <a:pt x="0" y="2284095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601200" y="7406640"/>
            <a:ext cx="192024" cy="192024"/>
            <a:chOff x="0" y="0"/>
            <a:chExt cx="256032" cy="25603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5CE0D8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944100" y="7269480"/>
            <a:ext cx="7063740" cy="480060"/>
            <a:chOff x="0" y="0"/>
            <a:chExt cx="9418320" cy="6400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41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4183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Peer Mock Scheduling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944100" y="7749540"/>
            <a:ext cx="7063740" cy="1028700"/>
            <a:chOff x="0" y="0"/>
            <a:chExt cx="9418320" cy="1371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418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941832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Let candidates practice live with peers, with AI scoring both sides.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 Practice Platform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6275" y="607695"/>
            <a:ext cx="3310890" cy="567690"/>
            <a:chOff x="0" y="0"/>
            <a:chExt cx="4414520" cy="756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4520" cy="756920"/>
            </a:xfrm>
            <a:custGeom>
              <a:avLst/>
              <a:gdLst/>
              <a:ahLst/>
              <a:cxnLst/>
              <a:rect r="r" b="b" t="t" l="l"/>
              <a:pathLst>
                <a:path h="756920" w="44145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036060" y="0"/>
                  </a:lnTo>
                  <a:cubicBezTo>
                    <a:pt x="4245102" y="0"/>
                    <a:pt x="4414520" y="169418"/>
                    <a:pt x="4414520" y="378460"/>
                  </a:cubicBezTo>
                  <a:cubicBezTo>
                    <a:pt x="4414520" y="587502"/>
                    <a:pt x="4245102" y="756920"/>
                    <a:pt x="403606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40" r="0" b="-6364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3291840" cy="548640"/>
            <a:chOff x="0" y="0"/>
            <a:chExt cx="43891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89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1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 · LITERATURE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1371600"/>
            <a:ext cx="14401800" cy="1234440"/>
            <a:chOff x="0" y="0"/>
            <a:chExt cx="192024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2024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Literature Survey — Resume &amp; Job Matching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2743200"/>
            <a:ext cx="16870680" cy="548640"/>
            <a:chOff x="0" y="0"/>
            <a:chExt cx="2249424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94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9164" r="0" b="-54916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94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Prior work this project builds on for parsing resumes and scoring candidate-job fit.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1512" y="3483292"/>
            <a:ext cx="16899255" cy="1784223"/>
            <a:chOff x="0" y="0"/>
            <a:chExt cx="22532340" cy="23789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532341" cy="2378964"/>
            </a:xfrm>
            <a:custGeom>
              <a:avLst/>
              <a:gdLst/>
              <a:ahLst/>
              <a:cxnLst/>
              <a:rect r="r" b="b" t="t" l="l"/>
              <a:pathLst>
                <a:path h="2378964" w="22532341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22309328" y="0"/>
                  </a:lnTo>
                  <a:cubicBezTo>
                    <a:pt x="22432518" y="0"/>
                    <a:pt x="22532341" y="99822"/>
                    <a:pt x="22532341" y="223012"/>
                  </a:cubicBezTo>
                  <a:lnTo>
                    <a:pt x="22532341" y="2155952"/>
                  </a:lnTo>
                  <a:cubicBezTo>
                    <a:pt x="22532341" y="2279142"/>
                    <a:pt x="22432518" y="2378964"/>
                    <a:pt x="22309328" y="2378964"/>
                  </a:cubicBezTo>
                  <a:lnTo>
                    <a:pt x="223012" y="2378964"/>
                  </a:lnTo>
                  <a:cubicBezTo>
                    <a:pt x="99822" y="2378964"/>
                    <a:pt x="0" y="2279142"/>
                    <a:pt x="0" y="2155952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6E5FA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97280" y="3662172"/>
            <a:ext cx="16047720" cy="411480"/>
            <a:chOff x="0" y="0"/>
            <a:chExt cx="213969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548640"/>
            </a:xfrm>
            <a:custGeom>
              <a:avLst/>
              <a:gdLst/>
              <a:ahLst/>
              <a:cxnLst/>
              <a:rect r="r" b="b" t="t" l="l"/>
              <a:pathLst>
                <a:path h="5486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9916" r="0" b="-70991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3969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Wadhwa, Malhotra &amp; Saxena (2020)  </a:t>
              </a:r>
              <a:r>
                <a:rPr lang="en-US" sz="1875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Automated Resume Screening System using NLP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4073652"/>
            <a:ext cx="16047720" cy="342900"/>
            <a:chOff x="0" y="0"/>
            <a:chExt cx="21396960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96961" cy="457200"/>
            </a:xfrm>
            <a:custGeom>
              <a:avLst/>
              <a:gdLst/>
              <a:ahLst/>
              <a:cxnLst/>
              <a:rect r="r" b="b" t="t" l="l"/>
              <a:pathLst>
                <a:path h="45720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1899" r="0" b="-86189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139696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IJERT, Vol. 9, Issue 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280" y="4430268"/>
            <a:ext cx="16047720" cy="754380"/>
            <a:chOff x="0" y="0"/>
            <a:chExt cx="2139696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3969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499" r="0" b="-36449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139696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Early rule- and NLP-based pipeline for screening resumes against job requirements; established the parse-then-score pattern this project follows.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71512" y="5430964"/>
            <a:ext cx="16899255" cy="1784223"/>
            <a:chOff x="0" y="0"/>
            <a:chExt cx="22532340" cy="23789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532341" cy="2378964"/>
            </a:xfrm>
            <a:custGeom>
              <a:avLst/>
              <a:gdLst/>
              <a:ahLst/>
              <a:cxnLst/>
              <a:rect r="r" b="b" t="t" l="l"/>
              <a:pathLst>
                <a:path h="2378964" w="22532341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22309328" y="0"/>
                  </a:lnTo>
                  <a:cubicBezTo>
                    <a:pt x="22432518" y="0"/>
                    <a:pt x="22532341" y="99822"/>
                    <a:pt x="22532341" y="223012"/>
                  </a:cubicBezTo>
                  <a:lnTo>
                    <a:pt x="22532341" y="2155952"/>
                  </a:lnTo>
                  <a:cubicBezTo>
                    <a:pt x="22532341" y="2279142"/>
                    <a:pt x="22432518" y="2378964"/>
                    <a:pt x="22309328" y="2378964"/>
                  </a:cubicBezTo>
                  <a:lnTo>
                    <a:pt x="223012" y="2378964"/>
                  </a:lnTo>
                  <a:cubicBezTo>
                    <a:pt x="99822" y="2378964"/>
                    <a:pt x="0" y="2279142"/>
                    <a:pt x="0" y="2155952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6E5FA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97280" y="5609844"/>
            <a:ext cx="16047720" cy="411480"/>
            <a:chOff x="0" y="0"/>
            <a:chExt cx="2139696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396961" cy="548640"/>
            </a:xfrm>
            <a:custGeom>
              <a:avLst/>
              <a:gdLst/>
              <a:ahLst/>
              <a:cxnLst/>
              <a:rect r="r" b="b" t="t" l="l"/>
              <a:pathLst>
                <a:path h="5486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9916" r="0" b="-70991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3969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Khatri et al. (2025)  </a:t>
              </a:r>
              <a:r>
                <a:rPr lang="en-US" sz="1875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AI-Powered Automated Resume Screening and Job Matching System Using NLP and ML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7280" y="6021324"/>
            <a:ext cx="16047720" cy="342900"/>
            <a:chOff x="0" y="0"/>
            <a:chExt cx="21396960" cy="45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396961" cy="457200"/>
            </a:xfrm>
            <a:custGeom>
              <a:avLst/>
              <a:gdLst/>
              <a:ahLst/>
              <a:cxnLst/>
              <a:rect r="r" b="b" t="t" l="l"/>
              <a:pathLst>
                <a:path h="45720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1899" r="0" b="-86189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139696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IJRESM, Vol. 8, No. 10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97280" y="6377940"/>
            <a:ext cx="16047720" cy="754380"/>
            <a:chOff x="0" y="0"/>
            <a:chExt cx="21396960" cy="10058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3969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499" r="0" b="-36449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139696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Uses Sentence-BERT to embed resumes and job descriptions and rank fit by cosine similarity — the same embedding-based matching approach used by this platform's sentence-transformers layer.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71512" y="7378636"/>
            <a:ext cx="16899255" cy="1784223"/>
            <a:chOff x="0" y="0"/>
            <a:chExt cx="22532340" cy="23789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532341" cy="2378964"/>
            </a:xfrm>
            <a:custGeom>
              <a:avLst/>
              <a:gdLst/>
              <a:ahLst/>
              <a:cxnLst/>
              <a:rect r="r" b="b" t="t" l="l"/>
              <a:pathLst>
                <a:path h="2378964" w="22532341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22309328" y="0"/>
                  </a:lnTo>
                  <a:cubicBezTo>
                    <a:pt x="22432518" y="0"/>
                    <a:pt x="22532341" y="99822"/>
                    <a:pt x="22532341" y="223012"/>
                  </a:cubicBezTo>
                  <a:lnTo>
                    <a:pt x="22532341" y="2155952"/>
                  </a:lnTo>
                  <a:cubicBezTo>
                    <a:pt x="22532341" y="2279142"/>
                    <a:pt x="22432518" y="2378964"/>
                    <a:pt x="22309328" y="2378964"/>
                  </a:cubicBezTo>
                  <a:lnTo>
                    <a:pt x="223012" y="2378964"/>
                  </a:lnTo>
                  <a:cubicBezTo>
                    <a:pt x="99822" y="2378964"/>
                    <a:pt x="0" y="2279142"/>
                    <a:pt x="0" y="2155952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6E5FA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97280" y="7557516"/>
            <a:ext cx="16047720" cy="411480"/>
            <a:chOff x="0" y="0"/>
            <a:chExt cx="2139696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396961" cy="548640"/>
            </a:xfrm>
            <a:custGeom>
              <a:avLst/>
              <a:gdLst/>
              <a:ahLst/>
              <a:cxnLst/>
              <a:rect r="r" b="b" t="t" l="l"/>
              <a:pathLst>
                <a:path h="5486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9916" r="0" b="-70991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13969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JobMatchAI (2026)  </a:t>
              </a:r>
              <a:r>
                <a:rPr lang="en-US" sz="1875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 Intelligent Job Matching Platform Using Knowledge Graphs, Semantic Search &amp; Explainable AI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97280" y="7968996"/>
            <a:ext cx="16047720" cy="342900"/>
            <a:chOff x="0" y="0"/>
            <a:chExt cx="21396960" cy="457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396961" cy="457200"/>
            </a:xfrm>
            <a:custGeom>
              <a:avLst/>
              <a:gdLst/>
              <a:ahLst/>
              <a:cxnLst/>
              <a:rect r="r" b="b" t="t" l="l"/>
              <a:pathLst>
                <a:path h="45720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1899" r="0" b="-86189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139696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arXiv preprint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97280" y="8325612"/>
            <a:ext cx="16047720" cy="754380"/>
            <a:chOff x="0" y="0"/>
            <a:chExt cx="21396960" cy="1005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3969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499" r="0" b="-36449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2139696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Combines multi-strategy resume parsing (regex + NER) with semantic skill matching, and reports the extraction accuracy trade-offs across name, skills and education fields.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 Practice Platform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6275" y="607695"/>
            <a:ext cx="3310890" cy="567690"/>
            <a:chOff x="0" y="0"/>
            <a:chExt cx="4414520" cy="756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4520" cy="756920"/>
            </a:xfrm>
            <a:custGeom>
              <a:avLst/>
              <a:gdLst/>
              <a:ahLst/>
              <a:cxnLst/>
              <a:rect r="r" b="b" t="t" l="l"/>
              <a:pathLst>
                <a:path h="756920" w="44145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036060" y="0"/>
                  </a:lnTo>
                  <a:cubicBezTo>
                    <a:pt x="4245102" y="0"/>
                    <a:pt x="4414520" y="169418"/>
                    <a:pt x="4414520" y="378460"/>
                  </a:cubicBezTo>
                  <a:cubicBezTo>
                    <a:pt x="4414520" y="587502"/>
                    <a:pt x="4245102" y="756920"/>
                    <a:pt x="403606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40" r="0" b="-6364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3291840" cy="548640"/>
            <a:chOff x="0" y="0"/>
            <a:chExt cx="43891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89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1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 · LITERATURE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1371600"/>
            <a:ext cx="14401800" cy="1234440"/>
            <a:chOff x="0" y="0"/>
            <a:chExt cx="192024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2024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Literature Survey — Interview Practice Tools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2743200"/>
            <a:ext cx="16870680" cy="548640"/>
            <a:chOff x="0" y="0"/>
            <a:chExt cx="2249424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94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9164" r="0" b="-54916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94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Existing mock-interview and speech-feedback tools, and the gap between them this project targets.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1512" y="3346133"/>
            <a:ext cx="8121015" cy="5995035"/>
            <a:chOff x="0" y="0"/>
            <a:chExt cx="10828020" cy="79933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28020" cy="7993380"/>
            </a:xfrm>
            <a:custGeom>
              <a:avLst/>
              <a:gdLst/>
              <a:ahLst/>
              <a:cxnLst/>
              <a:rect r="r" b="b" t="t" l="l"/>
              <a:pathLst>
                <a:path h="7993380" w="10828020">
                  <a:moveTo>
                    <a:pt x="0" y="220599"/>
                  </a:moveTo>
                  <a:cubicBezTo>
                    <a:pt x="0" y="98679"/>
                    <a:pt x="98679" y="0"/>
                    <a:pt x="220599" y="0"/>
                  </a:cubicBezTo>
                  <a:lnTo>
                    <a:pt x="10607421" y="0"/>
                  </a:lnTo>
                  <a:cubicBezTo>
                    <a:pt x="10729214" y="0"/>
                    <a:pt x="10828020" y="98679"/>
                    <a:pt x="10828020" y="220599"/>
                  </a:cubicBezTo>
                  <a:lnTo>
                    <a:pt x="10828020" y="7772781"/>
                  </a:lnTo>
                  <a:cubicBezTo>
                    <a:pt x="10828020" y="7894575"/>
                    <a:pt x="10729340" y="7993380"/>
                    <a:pt x="10607421" y="7993380"/>
                  </a:cubicBezTo>
                  <a:lnTo>
                    <a:pt x="220599" y="7993380"/>
                  </a:lnTo>
                  <a:cubicBezTo>
                    <a:pt x="98679" y="7993380"/>
                    <a:pt x="0" y="7894701"/>
                    <a:pt x="0" y="7772781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5CE0D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97280" y="3593592"/>
            <a:ext cx="7269480" cy="438912"/>
            <a:chOff x="0" y="0"/>
            <a:chExt cx="9692640" cy="5852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92640" cy="585216"/>
            </a:xfrm>
            <a:custGeom>
              <a:avLst/>
              <a:gdLst/>
              <a:ahLst/>
              <a:cxnLst/>
              <a:rect r="r" b="b" t="t" l="l"/>
              <a:pathLst>
                <a:path h="585216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720" r="0" b="-27272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6926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Tools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4114800"/>
            <a:ext cx="7269480" cy="1069848"/>
            <a:chOff x="0" y="0"/>
            <a:chExt cx="9692640" cy="14264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926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398" r="0" b="-8239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692640" cy="1455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Interview Warmup — </a:t>
              </a: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Free browser tool that transcribed spoken answers to five questions and showed word-pattern feedback. Retired by Google in April 2026.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280" y="5239512"/>
            <a:ext cx="7269480" cy="1069848"/>
            <a:chOff x="0" y="0"/>
            <a:chExt cx="9692640" cy="14264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926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398" r="0" b="-8239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692640" cy="1455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Pramp / Exponent Practice — </a:t>
              </a: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Peer-to-peer mock interviews for coding and behavioral rounds — human feedback, not AI-scored, and metered by credits since its 2024 move to Exponent.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280" y="6364224"/>
            <a:ext cx="7269480" cy="1069848"/>
            <a:chOff x="0" y="0"/>
            <a:chExt cx="9692640" cy="14264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926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398" r="0" b="-8239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9692640" cy="1455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Yoodli — </a:t>
              </a: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delivery coach scoring pace, filler words and confidence from speech — strong on delivery, but not tied to a candidate's resume or a specific job.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7488936"/>
            <a:ext cx="7269480" cy="1069848"/>
            <a:chOff x="0" y="0"/>
            <a:chExt cx="9692640" cy="14264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6926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398" r="0" b="-8239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9692640" cy="1455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 b="true">
                  <a:solidFill>
                    <a:srgbClr val="5CE0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OpenAI Whisper (Radford et al., 2022) — </a:t>
              </a: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Large-scale weakly-supervised speech recognition model — the open-source ASR backbone (via faster-whisper) this project uses for transcription.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44012" y="3346133"/>
            <a:ext cx="8121015" cy="5995035"/>
            <a:chOff x="0" y="0"/>
            <a:chExt cx="10828020" cy="79933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828020" cy="7993380"/>
            </a:xfrm>
            <a:custGeom>
              <a:avLst/>
              <a:gdLst/>
              <a:ahLst/>
              <a:cxnLst/>
              <a:rect r="r" b="b" t="t" l="l"/>
              <a:pathLst>
                <a:path h="7993380" w="10828020">
                  <a:moveTo>
                    <a:pt x="0" y="220599"/>
                  </a:moveTo>
                  <a:cubicBezTo>
                    <a:pt x="0" y="98679"/>
                    <a:pt x="98679" y="0"/>
                    <a:pt x="220599" y="0"/>
                  </a:cubicBezTo>
                  <a:lnTo>
                    <a:pt x="10607421" y="0"/>
                  </a:lnTo>
                  <a:cubicBezTo>
                    <a:pt x="10729214" y="0"/>
                    <a:pt x="10828020" y="98679"/>
                    <a:pt x="10828020" y="220599"/>
                  </a:cubicBezTo>
                  <a:lnTo>
                    <a:pt x="10828020" y="7772781"/>
                  </a:lnTo>
                  <a:cubicBezTo>
                    <a:pt x="10828020" y="7894575"/>
                    <a:pt x="10729340" y="7993380"/>
                    <a:pt x="10607421" y="7993380"/>
                  </a:cubicBezTo>
                  <a:lnTo>
                    <a:pt x="220599" y="7993380"/>
                  </a:lnTo>
                  <a:cubicBezTo>
                    <a:pt x="98679" y="7993380"/>
                    <a:pt x="0" y="7894701"/>
                    <a:pt x="0" y="7772781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D98FC9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669780" y="3593592"/>
            <a:ext cx="7269480" cy="438912"/>
            <a:chOff x="0" y="0"/>
            <a:chExt cx="9692640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692640" cy="585216"/>
            </a:xfrm>
            <a:custGeom>
              <a:avLst/>
              <a:gdLst/>
              <a:ahLst/>
              <a:cxnLst/>
              <a:rect r="r" b="b" t="t" l="l"/>
              <a:pathLst>
                <a:path h="585216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720" r="0" b="-27272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6926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Gap This Project Fills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69780" y="4114800"/>
            <a:ext cx="7269480" cy="1069848"/>
            <a:chOff x="0" y="0"/>
            <a:chExt cx="9692640" cy="14264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6926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398" r="0" b="-8239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9692640" cy="1455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Resume-matching research (previous slide) stops at ranking candidates — it doesn't lead into interview practice.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69780" y="5239512"/>
            <a:ext cx="7269480" cy="1069848"/>
            <a:chOff x="0" y="0"/>
            <a:chExt cx="9692640" cy="14264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6926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398" r="0" b="-8239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9692640" cy="1455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Delivery coaches like Yoodli score speech but ask generic questions, not ones tied to a matched job or the candidate's resume gaps.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69780" y="6364224"/>
            <a:ext cx="7269480" cy="1069848"/>
            <a:chOff x="0" y="0"/>
            <a:chExt cx="9692640" cy="14264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6926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398" r="0" b="-8239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9692640" cy="1455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Peer platforms like Pramp depend on finding a human partner and don't score content automatically.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669780" y="7488936"/>
            <a:ext cx="7269480" cy="1069848"/>
            <a:chOff x="0" y="0"/>
            <a:chExt cx="9692640" cy="14264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926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398" r="0" b="-8239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9692640" cy="1455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No surveyed tool combines resume-to-job matching, role-specific question generation, and content + delivery scoring in one free-tier pipeline — which is the integration this platform provides.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 Practice Platform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6275" y="607695"/>
            <a:ext cx="3310890" cy="567690"/>
            <a:chOff x="0" y="0"/>
            <a:chExt cx="4414520" cy="756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4520" cy="756920"/>
            </a:xfrm>
            <a:custGeom>
              <a:avLst/>
              <a:gdLst/>
              <a:ahLst/>
              <a:cxnLst/>
              <a:rect r="r" b="b" t="t" l="l"/>
              <a:pathLst>
                <a:path h="756920" w="44145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036060" y="0"/>
                  </a:lnTo>
                  <a:cubicBezTo>
                    <a:pt x="4245102" y="0"/>
                    <a:pt x="4414520" y="169418"/>
                    <a:pt x="4414520" y="378460"/>
                  </a:cubicBezTo>
                  <a:cubicBezTo>
                    <a:pt x="4414520" y="587502"/>
                    <a:pt x="4245102" y="756920"/>
                    <a:pt x="403606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40" r="0" b="-6364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3291840" cy="548640"/>
            <a:chOff x="0" y="0"/>
            <a:chExt cx="43891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89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1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 · CLOSING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1371600"/>
            <a:ext cx="14401800" cy="1234440"/>
            <a:chOff x="0" y="0"/>
            <a:chExt cx="192024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2024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1512" y="2866072"/>
            <a:ext cx="16899255" cy="5652135"/>
            <a:chOff x="0" y="0"/>
            <a:chExt cx="22532340" cy="75361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532339" cy="7536180"/>
            </a:xfrm>
            <a:custGeom>
              <a:avLst/>
              <a:gdLst/>
              <a:ahLst/>
              <a:cxnLst/>
              <a:rect r="r" b="b" t="t" l="l"/>
              <a:pathLst>
                <a:path h="7536180" w="22532339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22311740" y="0"/>
                  </a:lnTo>
                  <a:cubicBezTo>
                    <a:pt x="22433533" y="0"/>
                    <a:pt x="22532339" y="98806"/>
                    <a:pt x="22532339" y="220599"/>
                  </a:cubicBezTo>
                  <a:lnTo>
                    <a:pt x="22532339" y="7315581"/>
                  </a:lnTo>
                  <a:cubicBezTo>
                    <a:pt x="22532339" y="7437375"/>
                    <a:pt x="22433533" y="7536180"/>
                    <a:pt x="22311740" y="7536180"/>
                  </a:cubicBezTo>
                  <a:lnTo>
                    <a:pt x="220599" y="7536180"/>
                  </a:lnTo>
                  <a:cubicBezTo>
                    <a:pt x="98806" y="7536180"/>
                    <a:pt x="0" y="7437374"/>
                    <a:pt x="0" y="7315581"/>
                  </a:cubicBezTo>
                  <a:close/>
                </a:path>
              </a:pathLst>
            </a:custGeom>
            <a:solidFill>
              <a:srgbClr val="342157">
                <a:alpha val="48627"/>
              </a:srgbClr>
            </a:solidFill>
            <a:ln w="28575" cap="sq">
              <a:solidFill>
                <a:srgbClr val="6E5FA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3223260"/>
            <a:ext cx="15773400" cy="1028700"/>
            <a:chOff x="0" y="0"/>
            <a:chExt cx="21031200" cy="1371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03120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The Interview Practice Platform brings resume-to-job matching and mock-interview feedback into a single workflow — something no single tool surveyed in the literature review does end to end.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4210812"/>
            <a:ext cx="15773400" cy="1028700"/>
            <a:chOff x="0" y="0"/>
            <a:chExt cx="21031200" cy="1371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031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03120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It replaces keyword-filtered resume screening with embedding-based matching (Sentence-BERT-style similarity), so candidates see roles that genuinely fit their skills, not just their keywords.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4440" y="5198364"/>
            <a:ext cx="15773400" cy="1028700"/>
            <a:chOff x="0" y="0"/>
            <a:chExt cx="21031200" cy="137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031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103120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It replaces generic question banks and delivery-only coaching with mock interviews generated from the matched job and the candidate's own resume gaps, scored on both content and delivery.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4440" y="6185916"/>
            <a:ext cx="15773400" cy="1028700"/>
            <a:chOff x="0" y="0"/>
            <a:chExt cx="2103120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031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103120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Every component — spaCy, sentence-transformers, faster-whisper, Groq/Gemini, MongoDB Atlas — runs on free-tier or open-source infrastructure, so the platform stays accessible to the candidates who need it most.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34440" y="7173468"/>
            <a:ext cx="15773400" cy="1028700"/>
            <a:chOff x="0" y="0"/>
            <a:chExt cx="21031200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031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03120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9C3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[Close with the team's specific next milestone toward the final review]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5800" y="9669780"/>
            <a:ext cx="6858000" cy="411480"/>
            <a:chOff x="0" y="0"/>
            <a:chExt cx="91440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 Practice Platform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3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251960"/>
            <a:ext cx="18283428" cy="1783080"/>
            <a:chOff x="0" y="0"/>
            <a:chExt cx="24377904" cy="23774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77904" cy="2377440"/>
            </a:xfrm>
            <a:custGeom>
              <a:avLst/>
              <a:gdLst/>
              <a:ahLst/>
              <a:cxnLst/>
              <a:rect r="r" b="b" t="t" l="l"/>
              <a:pathLst>
                <a:path h="237744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796" r="0" b="-14979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0"/>
              <a:ext cx="24377904" cy="2663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80"/>
                </a:lnSpc>
              </a:pPr>
              <a:r>
                <a:rPr lang="en-US" sz="1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DAHU3S4Z0FE</dc:identifier>
  <dcterms:modified xsi:type="dcterms:W3CDTF">2011-08-01T06:04:30Z</dcterms:modified>
  <cp:revision>1</cp:revision>
  <dc:title>Interview_Practice_Platform_Review2 (2).pptx</dc:title>
</cp:coreProperties>
</file>